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D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822960"/>
            <a:ext cx="3108960" cy="3108960"/>
          </a:xfrm>
          <a:prstGeom prst="ellipse">
            <a:avLst/>
          </a:prstGeom>
          <a:solidFill>
            <a:srgbClr val="1E4D2F"/>
          </a:solidFill>
          <a:ln w="31750">
            <a:solidFill>
              <a:srgbClr val="6FB0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95974" y="1258214"/>
            <a:ext cx="2238451" cy="2238451"/>
          </a:xfrm>
          <a:prstGeom prst="ellipse">
            <a:avLst/>
          </a:prstGeom>
          <a:solidFill>
            <a:srgbClr val="1E4D2F"/>
          </a:solidFill>
          <a:ln w="25400">
            <a:solidFill>
              <a:srgbClr val="A6D9A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93408" y="1755648"/>
            <a:ext cx="1243584" cy="1243584"/>
          </a:xfrm>
          <a:prstGeom prst="ellipse">
            <a:avLst/>
          </a:prstGeom>
          <a:solidFill>
            <a:srgbClr val="2F6B41"/>
          </a:solidFill>
          <a:ln w="19050">
            <a:solidFill>
              <a:srgbClr val="6FB07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187452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4173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RecyTrack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3774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5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trazabilidad de reciclaje colectivo con incentivos verificables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154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C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Aplicado a una planta de Viñedos Familia Chadwick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Título · Ingeniería en Informática · Instituto Profesional Duoc UC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D2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5,2 %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91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residuos domiciliarios de Chile se valoriza.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 donde hay puntos de reciclaje, nadie sabe cuánto se recicla ni qué pasa con el material. En una planta ocurre lo mismo: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566928" cy="566928"/>
          </a:xfrm>
          <a:prstGeom prst="ellipse">
            <a:avLst/>
          </a:prstGeom>
          <a:solidFill>
            <a:srgbClr val="1E4D2F"/>
          </a:solidFill>
          <a:ln w="12700">
            <a:solidFill>
              <a:srgbClr val="1E4D2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364" y="3096524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61872" y="29718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recicla a diario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261872" y="32918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casino, oficinas y salas de descanso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91840" y="2971800"/>
            <a:ext cx="566928" cy="566928"/>
          </a:xfrm>
          <a:prstGeom prst="ellipse">
            <a:avLst/>
          </a:prstGeom>
          <a:solidFill>
            <a:srgbClr val="1E4D2F"/>
          </a:solidFill>
          <a:ln w="12700">
            <a:solidFill>
              <a:srgbClr val="1E4D2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6564" y="3096524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05072" y="29718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no queda registro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005072" y="32918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cuánto, qué áreas participan, dónde termina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035040" y="2971800"/>
            <a:ext cx="566928" cy="566928"/>
          </a:xfrm>
          <a:prstGeom prst="ellipse">
            <a:avLst/>
          </a:prstGeom>
          <a:solidFill>
            <a:srgbClr val="1E4D2F"/>
          </a:solidFill>
          <a:ln w="12700">
            <a:solidFill>
              <a:srgbClr val="1E4D2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764" y="3096524"/>
            <a:ext cx="317480" cy="3174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748272" y="29718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industria lo pide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6748272" y="32918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de Sustentabilidad de Vinos de Chile incluye el manejo de residuos</a:t>
            </a:r>
            <a:endParaRPr lang="en-US" sz="1150" dirty="0"/>
          </a:p>
        </p:txBody>
      </p:sp>
      <p:sp>
        <p:nvSpPr>
          <p:cNvPr id="17" name="Text 12"/>
          <p:cNvSpPr txBox="1"/>
          <p:nvPr/>
        </p:nvSpPr>
        <p:spPr>
          <a:xfrm>
            <a:off x="50292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RecyTrack · Planta de Viñedos Familia Chadwick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81838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2148840"/>
          </a:xfrm>
          <a:prstGeom prst="rect">
            <a:avLst/>
          </a:prstGeom>
          <a:solidFill>
            <a:srgbClr val="E4E8E3"/>
          </a:solidFill>
          <a:ln w="12700">
            <a:solidFill>
              <a:srgbClr val="E4E8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2148840"/>
          </a:xfrm>
          <a:prstGeom prst="rect">
            <a:avLst/>
          </a:prstGeom>
          <a:solidFill>
            <a:srgbClr val="B9E0B4"/>
          </a:solidFill>
          <a:ln w="12700">
            <a:solidFill>
              <a:srgbClr val="B9E0B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50292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A4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reciclaje diario de una planta es invisible.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983480" y="50292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4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RecyTrack lo convierte en datos verificados y reportables.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2560320"/>
            <a:ext cx="1965960" cy="1143000"/>
          </a:xfrm>
          <a:prstGeom prst="chevron">
            <a:avLst/>
          </a:prstGeom>
          <a:solidFill>
            <a:srgbClr val="FFFFFF"/>
          </a:solidFill>
          <a:ln w="19050">
            <a:solidFill>
              <a:srgbClr val="1E4D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2788920"/>
            <a:ext cx="566928" cy="56692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38404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Escanear el QR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4114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606040" y="2560320"/>
            <a:ext cx="1965960" cy="1143000"/>
          </a:xfrm>
          <a:prstGeom prst="chevron">
            <a:avLst/>
          </a:prstGeom>
          <a:solidFill>
            <a:srgbClr val="FFFFFF"/>
          </a:solidFill>
          <a:ln w="19050">
            <a:solidFill>
              <a:srgbClr val="1E4D2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88036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2788920"/>
            <a:ext cx="566928" cy="56692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606040" y="38404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 diaria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2606040" y="4114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Validador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709160" y="2560320"/>
            <a:ext cx="1965960" cy="1143000"/>
          </a:xfrm>
          <a:prstGeom prst="chevron">
            <a:avLst/>
          </a:prstGeom>
          <a:solidFill>
            <a:srgbClr val="FFFFFF"/>
          </a:solidFill>
          <a:ln w="19050">
            <a:solidFill>
              <a:srgbClr val="1E4D2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98348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2788920"/>
            <a:ext cx="566928" cy="56692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709160" y="38404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Retiro registrado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4709160" y="4114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812280" y="2560320"/>
            <a:ext cx="1965960" cy="1143000"/>
          </a:xfrm>
          <a:prstGeom prst="chevron">
            <a:avLst/>
          </a:prstGeom>
          <a:solidFill>
            <a:srgbClr val="FFFFFF"/>
          </a:solidFill>
          <a:ln w="19050">
            <a:solidFill>
              <a:srgbClr val="1E4D2F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08660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512" y="2788920"/>
            <a:ext cx="566928" cy="56692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812280" y="38404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y certificados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6812280" y="4114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50292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RecyTrack · Planta de Viñedos Familia Chadwick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81838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del proyecto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0584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 prototipo funcional que registre, valide y reporte el reciclaje de uso diario en una planta vitivinícola, con verificación de bajo costo, un panel web para su administración y campañas colectivas por área.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685800" cy="685800"/>
          </a:xfrm>
          <a:prstGeom prst="ellipse">
            <a:avLst/>
          </a:prstGeom>
          <a:solidFill>
            <a:srgbClr val="1E4D2F"/>
          </a:solidFill>
          <a:ln w="12700">
            <a:solidFill>
              <a:srgbClr val="1E4D2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3916" y="225399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29260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SIN INSTRUMENTOS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32461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87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70 % de rondas diarias completadas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06240" y="2103120"/>
            <a:ext cx="685800" cy="685800"/>
          </a:xfrm>
          <a:prstGeom prst="ellipse">
            <a:avLst/>
          </a:prstGeom>
          <a:solidFill>
            <a:srgbClr val="1E4D2F"/>
          </a:solidFill>
          <a:ln w="12700">
            <a:solidFill>
              <a:srgbClr val="1E4D2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116" y="2253996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246120" y="29260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DE FORMA AUDITABLE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3246120" y="32461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87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de reportes y certificados automáticos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949440" y="2103120"/>
            <a:ext cx="685800" cy="685800"/>
          </a:xfrm>
          <a:prstGeom prst="ellipse">
            <a:avLst/>
          </a:prstGeom>
          <a:solidFill>
            <a:srgbClr val="1E4D2F"/>
          </a:solidFill>
          <a:ln w="12700">
            <a:solidFill>
              <a:srgbClr val="1E4D2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0316" y="2253996"/>
            <a:ext cx="384048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989320" y="29260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LA PARTICIPACIÓN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5989320" y="32461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87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60 % de colaboradores participando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50292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RecyTrack · Planta de Viñedos Familia Chadwick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81838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 — LO QUE SÍ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8745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6C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" y="1234440"/>
            <a:ext cx="585216" cy="58521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4360" y="19202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Incorporación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22219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área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560320" y="1051560"/>
            <a:ext cx="18745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6C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972" y="1234440"/>
            <a:ext cx="585216" cy="58521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651760" y="19202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por QR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2651760" y="22219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puntos limpios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617720" y="1051560"/>
            <a:ext cx="18745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6C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2372" y="1234440"/>
            <a:ext cx="585216" cy="58521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09160" y="19202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 diaria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4709160" y="22219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validador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675120" y="1051560"/>
            <a:ext cx="18745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6C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9772" y="1234440"/>
            <a:ext cx="585216" cy="58521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766560" y="19202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retiros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6766560" y="22219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peso opcional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1531620" y="2880360"/>
            <a:ext cx="18745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6C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6272" y="3063240"/>
            <a:ext cx="585216" cy="58521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623060" y="3749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y certificados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1623060" y="40507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mensuales en PDF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3589020" y="2880360"/>
            <a:ext cx="18745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6C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3672" y="3063240"/>
            <a:ext cx="585216" cy="585216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3680460" y="3749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Campañas por área</a:t>
            </a:r>
            <a:endParaRPr lang="en-US" sz="1300" dirty="0"/>
          </a:p>
        </p:txBody>
      </p:sp>
      <p:sp>
        <p:nvSpPr>
          <p:cNvPr id="26" name="Text 18"/>
          <p:cNvSpPr txBox="1"/>
          <p:nvPr/>
        </p:nvSpPr>
        <p:spPr>
          <a:xfrm>
            <a:off x="3680460" y="40507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por participación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5646420" y="2880360"/>
            <a:ext cx="18745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6C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1072" y="3063240"/>
            <a:ext cx="585216" cy="585216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5737860" y="3749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web</a:t>
            </a:r>
            <a:endParaRPr lang="en-US" sz="1300" dirty="0"/>
          </a:p>
        </p:txBody>
      </p:sp>
      <p:sp>
        <p:nvSpPr>
          <p:cNvPr id="30" name="Text 21"/>
          <p:cNvSpPr txBox="1"/>
          <p:nvPr/>
        </p:nvSpPr>
        <p:spPr>
          <a:xfrm>
            <a:off x="5737860" y="40507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administrador</a:t>
            </a:r>
            <a:endParaRPr lang="en-US" sz="1050" dirty="0"/>
          </a:p>
        </p:txBody>
      </p:sp>
      <p:sp>
        <p:nvSpPr>
          <p:cNvPr id="31" name="Text 22"/>
          <p:cNvSpPr txBox="1"/>
          <p:nvPr/>
        </p:nvSpPr>
        <p:spPr>
          <a:xfrm>
            <a:off x="50292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RecyTrack · Planta de Viñedos Familia Chadwick</a:t>
            </a:r>
            <a:endParaRPr lang="en-US" sz="900" dirty="0"/>
          </a:p>
        </p:txBody>
      </p:sp>
      <p:sp>
        <p:nvSpPr>
          <p:cNvPr id="32" name="Text 23"/>
          <p:cNvSpPr txBox="1"/>
          <p:nvPr/>
        </p:nvSpPr>
        <p:spPr>
          <a:xfrm>
            <a:off x="81838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4D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de alcance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queda fuera del prototipo, por qué, y cuándo entra.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81381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566160"/>
                <a:gridCol w="19202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9D3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QUEDA FUERA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9D3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9D3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CUÁNDO ENTRA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 Residuos industriales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C6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DE9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foco es el reciclaje diario de los colaboradores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C6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C7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Fuera del proyecto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C6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 Pesaje instrumentado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C6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DE9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sistema ya acepta peso real informado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C6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C7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presupuesto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C6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 Alertas de punto limpio lleno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C6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DE9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Requieren sensores de llenado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C6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C7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presupuesto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C6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 Blockchain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C6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DE9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 por reglas de seguridad y registros inmutables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C6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C7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terceros externos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C6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 Otras plantas y contextos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C6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DE9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Reglas e incentivos distintos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C6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C7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 de escalamiento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C6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RecyTrack · Planta de Viñedos Familia Chadwick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838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adaptado · 6 sprints de 2 semanas · piloto de 4 semanas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2331720"/>
            <a:ext cx="8412480" cy="1005840"/>
          </a:xfrm>
          <a:prstGeom prst="rightArrow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2450592"/>
            <a:ext cx="978408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1D252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487168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2779776"/>
            <a:ext cx="905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en terreno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55064" y="2450592"/>
            <a:ext cx="978408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1D252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55064" y="2487168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779776"/>
            <a:ext cx="905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roles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0" y="2450592"/>
            <a:ext cx="978408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1D252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43200" y="2487168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779776" y="2779776"/>
            <a:ext cx="905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QR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831336" y="2450592"/>
            <a:ext cx="978408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1D252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31336" y="2487168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867912" y="2779776"/>
            <a:ext cx="905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 del validador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919472" y="2450592"/>
            <a:ext cx="978408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1D252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19472" y="2487168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956048" y="2779776"/>
            <a:ext cx="905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retiros y reportes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07608" y="2450592"/>
            <a:ext cx="978408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1D252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07608" y="2487168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044184" y="2779776"/>
            <a:ext cx="905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web y campañas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095744" y="2450592"/>
            <a:ext cx="978408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1D252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95744" y="2487168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2779776"/>
            <a:ext cx="905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230368" y="1417320"/>
            <a:ext cx="384048" cy="384048"/>
          </a:xfrm>
          <a:prstGeom prst="ellipse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22392" y="1801368"/>
            <a:ext cx="0" cy="548640"/>
          </a:xfrm>
          <a:prstGeom prst="line">
            <a:avLst/>
          </a:prstGeom>
          <a:noFill/>
          <a:ln w="25400">
            <a:solidFill>
              <a:srgbClr val="B8862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715000" y="14630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7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del piloto en la planta (4 semanas)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37490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piloto empieza cuando la ronda, los retiros y los reportes ya funcionan, y corre en paralelo a S5 y S6.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RecyTrack · Planta de Viñedos Familia Chadwick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1838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4D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y stack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2A6340"/>
          </a:solidFill>
          <a:ln w="12700">
            <a:solidFill>
              <a:srgbClr val="6FB07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C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1732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en el celular (colaborador y validador) y panel web del administrador, que registra los retiros · app web instalable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31720" y="2029968"/>
            <a:ext cx="274320" cy="182880"/>
          </a:xfrm>
          <a:prstGeom prst="downArrow">
            <a:avLst/>
          </a:prstGeom>
          <a:solidFill>
            <a:srgbClr val="6FB07C"/>
          </a:solidFill>
          <a:ln w="12700">
            <a:solidFill>
              <a:srgbClr val="6FB0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24028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2A6340"/>
          </a:solidFill>
          <a:ln w="12700">
            <a:solidFill>
              <a:srgbClr val="6FB07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331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C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060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seguridad de Firestore: la cadena se garantiza en el servidor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31720" y="3218688"/>
            <a:ext cx="274320" cy="182880"/>
          </a:xfrm>
          <a:prstGeom prst="downArrow">
            <a:avLst/>
          </a:prstGeom>
          <a:solidFill>
            <a:srgbClr val="6FB07C"/>
          </a:solidFill>
          <a:ln w="12700">
            <a:solidFill>
              <a:srgbClr val="6FB0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342900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2A6340"/>
          </a:solidFill>
          <a:ln w="12700">
            <a:solidFill>
              <a:srgbClr val="6FB07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520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C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79476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Firestore, Firebase Auth y Firebase Hosting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1051560"/>
            <a:ext cx="1216152" cy="1078992"/>
          </a:xfrm>
          <a:prstGeom prst="rect">
            <a:avLst/>
          </a:prstGeom>
          <a:solidFill>
            <a:srgbClr val="143622"/>
          </a:solidFill>
          <a:ln w="12700">
            <a:solidFill>
              <a:srgbClr val="3C6B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1051560"/>
            <a:ext cx="12161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08192" y="1051560"/>
            <a:ext cx="1216152" cy="1078992"/>
          </a:xfrm>
          <a:prstGeom prst="rect">
            <a:avLst/>
          </a:prstGeom>
          <a:solidFill>
            <a:srgbClr val="143622"/>
          </a:solidFill>
          <a:ln w="12700">
            <a:solidFill>
              <a:srgbClr val="3C6B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08192" y="1051560"/>
            <a:ext cx="12161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15784" y="1051560"/>
            <a:ext cx="1216152" cy="1078992"/>
          </a:xfrm>
          <a:prstGeom prst="rect">
            <a:avLst/>
          </a:prstGeom>
          <a:solidFill>
            <a:srgbClr val="143622"/>
          </a:solidFill>
          <a:ln w="12700">
            <a:solidFill>
              <a:srgbClr val="3C6B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15784" y="1051560"/>
            <a:ext cx="12161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2240280"/>
            <a:ext cx="1216152" cy="1078992"/>
          </a:xfrm>
          <a:prstGeom prst="rect">
            <a:avLst/>
          </a:prstGeom>
          <a:solidFill>
            <a:srgbClr val="143622"/>
          </a:solidFill>
          <a:ln w="12700">
            <a:solidFill>
              <a:srgbClr val="3C6B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0600" y="2240280"/>
            <a:ext cx="12161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NativeWind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08192" y="2240280"/>
            <a:ext cx="1216152" cy="1078992"/>
          </a:xfrm>
          <a:prstGeom prst="rect">
            <a:avLst/>
          </a:prstGeom>
          <a:solidFill>
            <a:srgbClr val="143622"/>
          </a:solidFill>
          <a:ln w="12700">
            <a:solidFill>
              <a:srgbClr val="3C6B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08192" y="2240280"/>
            <a:ext cx="12161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15784" y="2240280"/>
            <a:ext cx="1216152" cy="1078992"/>
          </a:xfrm>
          <a:prstGeom prst="rect">
            <a:avLst/>
          </a:prstGeom>
          <a:solidFill>
            <a:srgbClr val="143622"/>
          </a:solidFill>
          <a:ln w="12700">
            <a:solidFill>
              <a:srgbClr val="3C6B4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15784" y="2240280"/>
            <a:ext cx="12161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3429000"/>
            <a:ext cx="1216152" cy="1078992"/>
          </a:xfrm>
          <a:prstGeom prst="rect">
            <a:avLst/>
          </a:prstGeom>
          <a:solidFill>
            <a:srgbClr val="143622"/>
          </a:solidFill>
          <a:ln w="12700">
            <a:solidFill>
              <a:srgbClr val="3C6B4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00600" y="3429000"/>
            <a:ext cx="12161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08192" y="3429000"/>
            <a:ext cx="1216152" cy="1078992"/>
          </a:xfrm>
          <a:prstGeom prst="rect">
            <a:avLst/>
          </a:prstGeom>
          <a:solidFill>
            <a:srgbClr val="143622"/>
          </a:solidFill>
          <a:ln w="12700">
            <a:solidFill>
              <a:srgbClr val="3C6B4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08192" y="3429000"/>
            <a:ext cx="12161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jsQR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415784" y="3429000"/>
            <a:ext cx="1216152" cy="1078992"/>
          </a:xfrm>
          <a:prstGeom prst="rect">
            <a:avLst/>
          </a:prstGeom>
          <a:solidFill>
            <a:srgbClr val="143622"/>
          </a:solidFill>
          <a:ln w="12700">
            <a:solidFill>
              <a:srgbClr val="3C6B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15784" y="3429000"/>
            <a:ext cx="12161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pdf-lib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0292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RecyTrack · Planta de Viñedos Familia Chadwick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81838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2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Veamos RecyTrack funcionando.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840480" y="1234440"/>
            <a:ext cx="1463040" cy="3108960"/>
          </a:xfrm>
          <a:prstGeom prst="roundRect">
            <a:avLst>
              <a:gd name="adj" fmla="val 15625"/>
            </a:avLst>
          </a:prstGeom>
          <a:solidFill>
            <a:srgbClr val="202622"/>
          </a:solidFill>
          <a:ln w="25400">
            <a:solidFill>
              <a:srgbClr val="6B73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50208" y="1371600"/>
            <a:ext cx="1243584" cy="2834640"/>
          </a:xfrm>
          <a:prstGeom prst="roundRect">
            <a:avLst>
              <a:gd name="adj" fmla="val 13235"/>
            </a:avLst>
          </a:prstGeom>
          <a:solidFill>
            <a:srgbClr val="1E4D2F"/>
          </a:solidFill>
          <a:ln w="12700">
            <a:solidFill>
              <a:srgbClr val="1E4D2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23774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4434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 · Validador · Panel web del administrador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RecyTrack — Fase 1</dc:title>
  <dc:subject>PptxGenJS Presentation</dc:subject>
  <dc:creator>PptxGenJS</dc:creator>
  <cp:lastModifiedBy>PptxGenJS</cp:lastModifiedBy>
  <cp:revision>1</cp:revision>
  <dcterms:created xsi:type="dcterms:W3CDTF">2026-09-30T19:08:29Z</dcterms:created>
  <dcterms:modified xsi:type="dcterms:W3CDTF">2026-09-30T19:08:29Z</dcterms:modified>
</cp:coreProperties>
</file>