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4D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60720" y="822960"/>
            <a:ext cx="3108960" cy="3108960"/>
          </a:xfrm>
          <a:prstGeom prst="ellipse">
            <a:avLst/>
          </a:prstGeom>
          <a:solidFill>
            <a:srgbClr val="1E4D2F"/>
          </a:solidFill>
          <a:ln w="31750">
            <a:solidFill>
              <a:srgbClr val="6FB07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95974" y="1258214"/>
            <a:ext cx="2238451" cy="2238451"/>
          </a:xfrm>
          <a:prstGeom prst="ellipse">
            <a:avLst/>
          </a:prstGeom>
          <a:solidFill>
            <a:srgbClr val="1E4D2F"/>
          </a:solidFill>
          <a:ln w="25400">
            <a:solidFill>
              <a:srgbClr val="A6D9A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693408" y="1755648"/>
            <a:ext cx="1243584" cy="1243584"/>
          </a:xfrm>
          <a:prstGeom prst="ellipse">
            <a:avLst/>
          </a:prstGeom>
          <a:solidFill>
            <a:srgbClr val="2F6B41"/>
          </a:solidFill>
          <a:ln w="19050">
            <a:solidFill>
              <a:srgbClr val="6FB07C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12280" y="1874520"/>
            <a:ext cx="1005840" cy="10058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41732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RecyTrack</a:t>
            </a:r>
            <a:endParaRPr lang="en-US" sz="5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3774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5E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trazabilidad de reciclaje colectivo con incentivos verificables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1546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7C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Aplicado a una planta de Viñedos Familia Chadwick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45720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C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 Título · Ingeniería en Informática · Instituto Profesional Duoc UC ·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1D25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5,2 %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916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4D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los residuos domiciliarios de Chile se valoriza.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2402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Aun donde hay puntos de reciclaje, nadie sabe cuánto se recicla ni qué pasa con el material. En una planta ocurre lo mismo: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971800"/>
            <a:ext cx="566928" cy="566928"/>
          </a:xfrm>
          <a:prstGeom prst="ellipse">
            <a:avLst/>
          </a:prstGeom>
          <a:solidFill>
            <a:srgbClr val="1E4D2F"/>
          </a:solidFill>
          <a:ln w="12700">
            <a:solidFill>
              <a:srgbClr val="1E4D2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3364" y="3096524"/>
            <a:ext cx="317480" cy="3174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61872" y="297180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D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recicla a diario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1261872" y="3291840"/>
            <a:ext cx="1874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casino, oficinas y salas de descanso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3291840" y="2971800"/>
            <a:ext cx="566928" cy="566928"/>
          </a:xfrm>
          <a:prstGeom prst="ellipse">
            <a:avLst/>
          </a:prstGeom>
          <a:solidFill>
            <a:srgbClr val="1E4D2F"/>
          </a:solidFill>
          <a:ln w="12700">
            <a:solidFill>
              <a:srgbClr val="1E4D2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6564" y="3096524"/>
            <a:ext cx="317480" cy="3174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005072" y="297180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D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Pero no queda registro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4005072" y="3291840"/>
            <a:ext cx="1874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cuánto, qué áreas participan, dónde termina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6035040" y="2971800"/>
            <a:ext cx="566928" cy="566928"/>
          </a:xfrm>
          <a:prstGeom prst="ellipse">
            <a:avLst/>
          </a:prstGeom>
          <a:solidFill>
            <a:srgbClr val="1E4D2F"/>
          </a:solidFill>
          <a:ln w="12700">
            <a:solidFill>
              <a:srgbClr val="1E4D2F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9764" y="3096524"/>
            <a:ext cx="317480" cy="31748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748272" y="297180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D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la industria lo pide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6748272" y="3291840"/>
            <a:ext cx="1874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Código de Sustentabilidad de Vinos de Chile incluye el manejo de residuos</a:t>
            </a:r>
            <a:endParaRPr lang="en-US" sz="1150" dirty="0"/>
          </a:p>
        </p:txBody>
      </p:sp>
      <p:sp>
        <p:nvSpPr>
          <p:cNvPr id="17" name="Text 12"/>
          <p:cNvSpPr txBox="1"/>
          <p:nvPr/>
        </p:nvSpPr>
        <p:spPr>
          <a:xfrm>
            <a:off x="50292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RecyTrack · Planta de Viñedos Familia Chadwick</a:t>
            </a:r>
            <a:endParaRPr lang="en-US" sz="900" dirty="0"/>
          </a:p>
        </p:txBody>
      </p:sp>
      <p:sp>
        <p:nvSpPr>
          <p:cNvPr id="18" name="Text 13"/>
          <p:cNvSpPr txBox="1"/>
          <p:nvPr/>
        </p:nvSpPr>
        <p:spPr>
          <a:xfrm>
            <a:off x="818388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0" cy="2148840"/>
          </a:xfrm>
          <a:prstGeom prst="rect">
            <a:avLst/>
          </a:prstGeom>
          <a:solidFill>
            <a:srgbClr val="E4E8E3"/>
          </a:solidFill>
          <a:ln w="12700">
            <a:solidFill>
              <a:srgbClr val="E4E8E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2148840"/>
          </a:xfrm>
          <a:prstGeom prst="rect">
            <a:avLst/>
          </a:prstGeom>
          <a:solidFill>
            <a:srgbClr val="B9E0B4"/>
          </a:solidFill>
          <a:ln w="12700">
            <a:solidFill>
              <a:srgbClr val="B9E0B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502920"/>
            <a:ext cx="3749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3A4A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reciclaje diario de una planta es invisible.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983480" y="502920"/>
            <a:ext cx="3749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4D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RecyTrack lo convierte en datos verificados y reportables.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2560320"/>
            <a:ext cx="1965960" cy="1143000"/>
          </a:xfrm>
          <a:prstGeom prst="chevron">
            <a:avLst/>
          </a:prstGeom>
          <a:solidFill>
            <a:srgbClr val="FFFFFF"/>
          </a:solidFill>
          <a:ln w="19050">
            <a:solidFill>
              <a:srgbClr val="1E4D2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2606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4D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6152" y="2788920"/>
            <a:ext cx="566928" cy="56692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02920" y="384048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25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Escanear el QR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502920" y="411480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Colaborador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2606040" y="2560320"/>
            <a:ext cx="1965960" cy="1143000"/>
          </a:xfrm>
          <a:prstGeom prst="chevron">
            <a:avLst/>
          </a:prstGeom>
          <a:solidFill>
            <a:srgbClr val="FFFFFF"/>
          </a:solidFill>
          <a:ln w="19050">
            <a:solidFill>
              <a:srgbClr val="1E4D2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880360" y="2606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4D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9272" y="2788920"/>
            <a:ext cx="566928" cy="566928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2606040" y="384048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25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Ronda diaria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2606040" y="411480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Validador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4709160" y="2560320"/>
            <a:ext cx="1965960" cy="1143000"/>
          </a:xfrm>
          <a:prstGeom prst="chevron">
            <a:avLst/>
          </a:prstGeom>
          <a:solidFill>
            <a:srgbClr val="FFFFFF"/>
          </a:solidFill>
          <a:ln w="19050">
            <a:solidFill>
              <a:srgbClr val="1E4D2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983480" y="2606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4D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2392" y="2788920"/>
            <a:ext cx="566928" cy="56692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4709160" y="384048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25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Retiro registrado</a:t>
            </a:r>
            <a:endParaRPr lang="en-US" sz="1300" dirty="0"/>
          </a:p>
        </p:txBody>
      </p:sp>
      <p:sp>
        <p:nvSpPr>
          <p:cNvPr id="20" name="Text 15"/>
          <p:cNvSpPr txBox="1"/>
          <p:nvPr/>
        </p:nvSpPr>
        <p:spPr>
          <a:xfrm>
            <a:off x="4709160" y="411480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Gestor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6812280" y="2560320"/>
            <a:ext cx="1965960" cy="1143000"/>
          </a:xfrm>
          <a:prstGeom prst="chevron">
            <a:avLst/>
          </a:prstGeom>
          <a:solidFill>
            <a:srgbClr val="FFFFFF"/>
          </a:solidFill>
          <a:ln w="19050">
            <a:solidFill>
              <a:srgbClr val="1E4D2F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7086600" y="2606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4D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5512" y="2788920"/>
            <a:ext cx="566928" cy="566928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6812280" y="384048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25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 en el panel</a:t>
            </a:r>
            <a:endParaRPr lang="en-US" sz="1300" dirty="0"/>
          </a:p>
        </p:txBody>
      </p:sp>
      <p:sp>
        <p:nvSpPr>
          <p:cNvPr id="25" name="Text 19"/>
          <p:cNvSpPr txBox="1"/>
          <p:nvPr/>
        </p:nvSpPr>
        <p:spPr>
          <a:xfrm>
            <a:off x="6812280" y="411480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</a:t>
            </a:r>
            <a:endParaRPr lang="en-US" sz="1100" dirty="0"/>
          </a:p>
        </p:txBody>
      </p:sp>
      <p:sp>
        <p:nvSpPr>
          <p:cNvPr id="26" name="Text 20"/>
          <p:cNvSpPr txBox="1"/>
          <p:nvPr/>
        </p:nvSpPr>
        <p:spPr>
          <a:xfrm>
            <a:off x="50292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RecyTrack · Planta de Viñedos Familia Chadwick</a:t>
            </a:r>
            <a:endParaRPr lang="en-US" sz="900" dirty="0"/>
          </a:p>
        </p:txBody>
      </p:sp>
      <p:sp>
        <p:nvSpPr>
          <p:cNvPr id="27" name="Text 21"/>
          <p:cNvSpPr txBox="1"/>
          <p:nvPr/>
        </p:nvSpPr>
        <p:spPr>
          <a:xfrm>
            <a:off x="818388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E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4D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Objetivos del proyecto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005840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D25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prototipo funcional que registre, valide y reporte el reciclaje de uso diario en una planta vitivinícola, con verificación de bajo costo, un panel web para su administración y campañas colectivas por área.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463040" y="2103120"/>
            <a:ext cx="685800" cy="685800"/>
          </a:xfrm>
          <a:prstGeom prst="ellipse">
            <a:avLst/>
          </a:prstGeom>
          <a:solidFill>
            <a:srgbClr val="1E4D2F"/>
          </a:solidFill>
          <a:ln w="12700">
            <a:solidFill>
              <a:srgbClr val="1E4D2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13916" y="2253996"/>
            <a:ext cx="384048" cy="38404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292608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4D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VERIFICAR SIN INSTRUMENTOS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324612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A87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70 % de rondas diarias completadas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206240" y="2103120"/>
            <a:ext cx="685800" cy="685800"/>
          </a:xfrm>
          <a:prstGeom prst="ellipse">
            <a:avLst/>
          </a:prstGeom>
          <a:solidFill>
            <a:srgbClr val="1E4D2F"/>
          </a:solidFill>
          <a:ln w="12700">
            <a:solidFill>
              <a:srgbClr val="1E4D2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7116" y="2253996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3246120" y="292608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4D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REPORTAR DE FORMA AUDITABLE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3246120" y="324612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A87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100 % de reportes y certificados automáticos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949440" y="2103120"/>
            <a:ext cx="685800" cy="685800"/>
          </a:xfrm>
          <a:prstGeom prst="ellipse">
            <a:avLst/>
          </a:prstGeom>
          <a:solidFill>
            <a:srgbClr val="1E4D2F"/>
          </a:solidFill>
          <a:ln w="12700">
            <a:solidFill>
              <a:srgbClr val="1E4D2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0316" y="2253996"/>
            <a:ext cx="384048" cy="38404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989320" y="292608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4D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ACTIVAR LA PARTICIPACIÓN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5989320" y="324612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A87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60 % de colaboradores participando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50292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RecyTrack · Planta de Viñedos Familia Chadwick</a:t>
            </a:r>
            <a:endParaRPr lang="en-US" sz="900" dirty="0"/>
          </a:p>
        </p:txBody>
      </p:sp>
      <p:sp>
        <p:nvSpPr>
          <p:cNvPr id="17" name="Text 12"/>
          <p:cNvSpPr txBox="1"/>
          <p:nvPr/>
        </p:nvSpPr>
        <p:spPr>
          <a:xfrm>
            <a:off x="818388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4D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ALCANCE — LO QUE SÍ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051560"/>
            <a:ext cx="187452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C9D6C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12000"/>
              </a:srgbClr>
            </a:outerShdw>
          </a:effectLst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7572" y="1234440"/>
            <a:ext cx="585216" cy="58521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94360" y="192024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25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Incorporación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222199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área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2560320" y="1051560"/>
            <a:ext cx="187452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C9D6C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12000"/>
              </a:srgbClr>
            </a:outerShdw>
          </a:effectLst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4972" y="1234440"/>
            <a:ext cx="585216" cy="58521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651760" y="192024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25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por QR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2651760" y="222199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puntos limpios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4617720" y="1051560"/>
            <a:ext cx="187452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C9D6C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12000"/>
              </a:srgbClr>
            </a:outerShdw>
          </a:effectLst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62372" y="1234440"/>
            <a:ext cx="585216" cy="585216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4709160" y="192024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25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Ronda diaria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4709160" y="222199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validador</a:t>
            </a:r>
            <a:endParaRPr lang="en-US" sz="1050" dirty="0"/>
          </a:p>
        </p:txBody>
      </p:sp>
      <p:sp>
        <p:nvSpPr>
          <p:cNvPr id="15" name="Shape 10"/>
          <p:cNvSpPr/>
          <p:nvPr/>
        </p:nvSpPr>
        <p:spPr>
          <a:xfrm>
            <a:off x="6675120" y="1051560"/>
            <a:ext cx="187452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C9D6C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12000"/>
              </a:srgbClr>
            </a:outerShdw>
          </a:effectLst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9772" y="1234440"/>
            <a:ext cx="585216" cy="585216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6766560" y="192024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25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de retiros</a:t>
            </a:r>
            <a:endParaRPr lang="en-US" sz="1300" dirty="0"/>
          </a:p>
        </p:txBody>
      </p:sp>
      <p:sp>
        <p:nvSpPr>
          <p:cNvPr id="18" name="Text 12"/>
          <p:cNvSpPr txBox="1"/>
          <p:nvPr/>
        </p:nvSpPr>
        <p:spPr>
          <a:xfrm>
            <a:off x="6766560" y="222199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peso opcional</a:t>
            </a:r>
            <a:endParaRPr lang="en-US" sz="1050" dirty="0"/>
          </a:p>
        </p:txBody>
      </p:sp>
      <p:sp>
        <p:nvSpPr>
          <p:cNvPr id="19" name="Shape 13"/>
          <p:cNvSpPr/>
          <p:nvPr/>
        </p:nvSpPr>
        <p:spPr>
          <a:xfrm>
            <a:off x="1531620" y="2880360"/>
            <a:ext cx="187452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C9D6C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12000"/>
              </a:srgbClr>
            </a:outerShdw>
          </a:effectLst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76272" y="3063240"/>
            <a:ext cx="585216" cy="585216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623060" y="374904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25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Reportes y certificados</a:t>
            </a:r>
            <a:endParaRPr lang="en-US" sz="1300" dirty="0"/>
          </a:p>
        </p:txBody>
      </p:sp>
      <p:sp>
        <p:nvSpPr>
          <p:cNvPr id="22" name="Text 15"/>
          <p:cNvSpPr txBox="1"/>
          <p:nvPr/>
        </p:nvSpPr>
        <p:spPr>
          <a:xfrm>
            <a:off x="1623060" y="405079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mensuales en PDF</a:t>
            </a:r>
            <a:endParaRPr lang="en-US" sz="1050" dirty="0"/>
          </a:p>
        </p:txBody>
      </p:sp>
      <p:sp>
        <p:nvSpPr>
          <p:cNvPr id="23" name="Shape 16"/>
          <p:cNvSpPr/>
          <p:nvPr/>
        </p:nvSpPr>
        <p:spPr>
          <a:xfrm>
            <a:off x="3589020" y="2880360"/>
            <a:ext cx="187452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C9D6C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12000"/>
              </a:srgbClr>
            </a:outerShdw>
          </a:effectLst>
        </p:spPr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33672" y="3063240"/>
            <a:ext cx="585216" cy="585216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3680460" y="374904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25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Campañas por área</a:t>
            </a:r>
            <a:endParaRPr lang="en-US" sz="1300" dirty="0"/>
          </a:p>
        </p:txBody>
      </p:sp>
      <p:sp>
        <p:nvSpPr>
          <p:cNvPr id="26" name="Text 18"/>
          <p:cNvSpPr txBox="1"/>
          <p:nvPr/>
        </p:nvSpPr>
        <p:spPr>
          <a:xfrm>
            <a:off x="3680460" y="405079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 por participación</a:t>
            </a:r>
            <a:endParaRPr lang="en-US" sz="1050" dirty="0"/>
          </a:p>
        </p:txBody>
      </p:sp>
      <p:sp>
        <p:nvSpPr>
          <p:cNvPr id="27" name="Shape 19"/>
          <p:cNvSpPr/>
          <p:nvPr/>
        </p:nvSpPr>
        <p:spPr>
          <a:xfrm>
            <a:off x="5646420" y="2880360"/>
            <a:ext cx="187452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C9D6C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12000"/>
              </a:srgbClr>
            </a:outerShdw>
          </a:effectLst>
        </p:spPr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91072" y="3063240"/>
            <a:ext cx="585216" cy="585216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5737860" y="374904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25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web</a:t>
            </a:r>
            <a:endParaRPr lang="en-US" sz="1300" dirty="0"/>
          </a:p>
        </p:txBody>
      </p:sp>
      <p:sp>
        <p:nvSpPr>
          <p:cNvPr id="30" name="Text 21"/>
          <p:cNvSpPr txBox="1"/>
          <p:nvPr/>
        </p:nvSpPr>
        <p:spPr>
          <a:xfrm>
            <a:off x="5737860" y="405079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administrador</a:t>
            </a:r>
            <a:endParaRPr lang="en-US" sz="1050" dirty="0"/>
          </a:p>
        </p:txBody>
      </p:sp>
      <p:sp>
        <p:nvSpPr>
          <p:cNvPr id="31" name="Text 22"/>
          <p:cNvSpPr txBox="1"/>
          <p:nvPr/>
        </p:nvSpPr>
        <p:spPr>
          <a:xfrm>
            <a:off x="50292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RecyTrack · Planta de Viñedos Familia Chadwick</a:t>
            </a:r>
            <a:endParaRPr lang="en-US" sz="900" dirty="0"/>
          </a:p>
        </p:txBody>
      </p:sp>
      <p:sp>
        <p:nvSpPr>
          <p:cNvPr id="32" name="Text 23"/>
          <p:cNvSpPr txBox="1"/>
          <p:nvPr/>
        </p:nvSpPr>
        <p:spPr>
          <a:xfrm>
            <a:off x="818388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4D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Decisiones de alcance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D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queda fuera del prototipo, por qué, y cuándo entra.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25880"/>
          <a:ext cx="813816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3566160"/>
                <a:gridCol w="19202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9D3B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QUÉ QUEDA FUERA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9D3B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 QUÉ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9D3B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CUÁNDO ENTRA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  Residuos industriales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C6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DDE9E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 foco es el reciclaje diario de los colaboradores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C6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7C7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Fuera del proyecto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C6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  Pesaje instrumentado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C6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DDE9E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 sistema ya acepta peso real informado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C6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7C7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presupuesto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C6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  Alertas de punto limpio lleno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C6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DDE9E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Requieren sensores de llenado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C6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7C7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presupuesto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C6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  Blockchain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C6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DDE9E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 por reglas de seguridad y registros inmutables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C6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7C7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terceros externos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C6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  Otras plantas y contextos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C6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DDE9E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Reglas e incentivos distintos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C6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7C7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Fase de escalamiento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C6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0292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C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RecyTrack · Planta de Viñedos Familia Chadwick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818388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9C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4D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Scrum adaptado · 6 sprints de 2 semanas · piloto de 4 semanas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11480" y="2331720"/>
            <a:ext cx="8412480" cy="1005840"/>
          </a:xfrm>
          <a:prstGeom prst="rightArrow">
            <a:avLst/>
          </a:prstGeom>
          <a:solidFill>
            <a:srgbClr val="B8862A"/>
          </a:solidFill>
          <a:ln w="12700">
            <a:solidFill>
              <a:srgbClr val="B8862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66928" y="2450592"/>
            <a:ext cx="978408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5240">
            <a:solidFill>
              <a:srgbClr val="1D252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2487168"/>
            <a:ext cx="978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D25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03504" y="2779776"/>
            <a:ext cx="905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1D25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 en terreno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1655064" y="2450592"/>
            <a:ext cx="978408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5240">
            <a:solidFill>
              <a:srgbClr val="1D252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655064" y="2487168"/>
            <a:ext cx="978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D25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691640" y="2779776"/>
            <a:ext cx="905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1D25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y roles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2743200" y="2450592"/>
            <a:ext cx="978408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5240">
            <a:solidFill>
              <a:srgbClr val="1D252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743200" y="2487168"/>
            <a:ext cx="978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D25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779776" y="2779776"/>
            <a:ext cx="905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1D25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QR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831336" y="2450592"/>
            <a:ext cx="978408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5240">
            <a:solidFill>
              <a:srgbClr val="1D252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831336" y="2487168"/>
            <a:ext cx="978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D25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3867912" y="2779776"/>
            <a:ext cx="905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1D25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ronda del validador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919472" y="2450592"/>
            <a:ext cx="978408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5240">
            <a:solidFill>
              <a:srgbClr val="1D252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919472" y="2487168"/>
            <a:ext cx="978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D25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956048" y="2779776"/>
            <a:ext cx="905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1D25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retiros y reportes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6007608" y="2450592"/>
            <a:ext cx="978408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5240">
            <a:solidFill>
              <a:srgbClr val="1D252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07608" y="2487168"/>
            <a:ext cx="978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D25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S5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044184" y="2779776"/>
            <a:ext cx="905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1D25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web y campañas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7095744" y="2450592"/>
            <a:ext cx="978408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5240">
            <a:solidFill>
              <a:srgbClr val="1D252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095744" y="2487168"/>
            <a:ext cx="978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D25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S6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132320" y="2779776"/>
            <a:ext cx="905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1D25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5230368" y="1417320"/>
            <a:ext cx="384048" cy="384048"/>
          </a:xfrm>
          <a:prstGeom prst="ellipse">
            <a:avLst/>
          </a:prstGeom>
          <a:solidFill>
            <a:srgbClr val="B8862A"/>
          </a:solidFill>
          <a:ln w="12700">
            <a:solidFill>
              <a:srgbClr val="B8862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22392" y="1801368"/>
            <a:ext cx="0" cy="548640"/>
          </a:xfrm>
          <a:prstGeom prst="line">
            <a:avLst/>
          </a:prstGeom>
          <a:noFill/>
          <a:ln w="25400">
            <a:solidFill>
              <a:srgbClr val="B8862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715000" y="146304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7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 del piloto en la planta (4 semanas)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502920" y="37490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piloto empieza cuando la ronda, los retiros y los reportes ya funcionan, y corre en paralelo a S5 y S6.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50292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RecyTrack · Planta de Viñedos Familia Chadwick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818388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4D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Arquitectura y stack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1051560"/>
            <a:ext cx="3931920" cy="960120"/>
          </a:xfrm>
          <a:prstGeom prst="roundRect">
            <a:avLst>
              <a:gd name="adj" fmla="val 7619"/>
            </a:avLst>
          </a:prstGeom>
          <a:solidFill>
            <a:srgbClr val="2A6340"/>
          </a:solidFill>
          <a:ln w="12700">
            <a:solidFill>
              <a:srgbClr val="6FB07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1430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7C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417320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en el celular (colaborador, validador, gestor) y panel web del administrador · app web instalable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331720" y="2029968"/>
            <a:ext cx="274320" cy="182880"/>
          </a:xfrm>
          <a:prstGeom prst="downArrow">
            <a:avLst/>
          </a:prstGeom>
          <a:solidFill>
            <a:srgbClr val="6FB07C"/>
          </a:solidFill>
          <a:ln w="12700">
            <a:solidFill>
              <a:srgbClr val="6FB07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2240280"/>
            <a:ext cx="3931920" cy="960120"/>
          </a:xfrm>
          <a:prstGeom prst="roundRect">
            <a:avLst>
              <a:gd name="adj" fmla="val 7619"/>
            </a:avLst>
          </a:prstGeom>
          <a:solidFill>
            <a:srgbClr val="2A6340"/>
          </a:solidFill>
          <a:ln w="12700">
            <a:solidFill>
              <a:srgbClr val="6FB07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23317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7C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LÓGICA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606040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Reglas de seguridad de Firestore: la cadena se garantiza en el servidor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331720" y="3218688"/>
            <a:ext cx="274320" cy="182880"/>
          </a:xfrm>
          <a:prstGeom prst="downArrow">
            <a:avLst/>
          </a:prstGeom>
          <a:solidFill>
            <a:srgbClr val="6FB07C"/>
          </a:solidFill>
          <a:ln w="12700">
            <a:solidFill>
              <a:srgbClr val="6FB07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2920" y="3429000"/>
            <a:ext cx="3931920" cy="960120"/>
          </a:xfrm>
          <a:prstGeom prst="roundRect">
            <a:avLst>
              <a:gd name="adj" fmla="val 7619"/>
            </a:avLst>
          </a:prstGeom>
          <a:solidFill>
            <a:srgbClr val="2A6340"/>
          </a:solidFill>
          <a:ln w="12700">
            <a:solidFill>
              <a:srgbClr val="6FB07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5204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7C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3794760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Firestore, Firebase Auth y Firebase Hosting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800600" y="1051560"/>
            <a:ext cx="1216152" cy="1078992"/>
          </a:xfrm>
          <a:prstGeom prst="rect">
            <a:avLst/>
          </a:prstGeom>
          <a:solidFill>
            <a:srgbClr val="143622"/>
          </a:solidFill>
          <a:ln w="12700">
            <a:solidFill>
              <a:srgbClr val="3C6B4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800600" y="1051560"/>
            <a:ext cx="1216152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Native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108192" y="1051560"/>
            <a:ext cx="1216152" cy="1078992"/>
          </a:xfrm>
          <a:prstGeom prst="rect">
            <a:avLst/>
          </a:prstGeom>
          <a:solidFill>
            <a:srgbClr val="143622"/>
          </a:solidFill>
          <a:ln w="12700">
            <a:solidFill>
              <a:srgbClr val="3C6B4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108192" y="1051560"/>
            <a:ext cx="1216152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415784" y="1051560"/>
            <a:ext cx="1216152" cy="1078992"/>
          </a:xfrm>
          <a:prstGeom prst="rect">
            <a:avLst/>
          </a:prstGeom>
          <a:solidFill>
            <a:srgbClr val="143622"/>
          </a:solidFill>
          <a:ln w="12700">
            <a:solidFill>
              <a:srgbClr val="3C6B4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415784" y="1051560"/>
            <a:ext cx="1216152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TypeScript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800600" y="2240280"/>
            <a:ext cx="1216152" cy="1078992"/>
          </a:xfrm>
          <a:prstGeom prst="rect">
            <a:avLst/>
          </a:prstGeom>
          <a:solidFill>
            <a:srgbClr val="143622"/>
          </a:solidFill>
          <a:ln w="12700">
            <a:solidFill>
              <a:srgbClr val="3C6B4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800600" y="2240280"/>
            <a:ext cx="1216152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NativeWind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108192" y="2240280"/>
            <a:ext cx="1216152" cy="1078992"/>
          </a:xfrm>
          <a:prstGeom prst="rect">
            <a:avLst/>
          </a:prstGeom>
          <a:solidFill>
            <a:srgbClr val="143622"/>
          </a:solidFill>
          <a:ln w="12700">
            <a:solidFill>
              <a:srgbClr val="3C6B4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108192" y="2240280"/>
            <a:ext cx="1216152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415784" y="2240280"/>
            <a:ext cx="1216152" cy="1078992"/>
          </a:xfrm>
          <a:prstGeom prst="rect">
            <a:avLst/>
          </a:prstGeom>
          <a:solidFill>
            <a:srgbClr val="143622"/>
          </a:solidFill>
          <a:ln w="12700">
            <a:solidFill>
              <a:srgbClr val="3C6B4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415784" y="2240280"/>
            <a:ext cx="1216152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Firestore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800600" y="3429000"/>
            <a:ext cx="1216152" cy="1078992"/>
          </a:xfrm>
          <a:prstGeom prst="rect">
            <a:avLst/>
          </a:prstGeom>
          <a:solidFill>
            <a:srgbClr val="143622"/>
          </a:solidFill>
          <a:ln w="12700">
            <a:solidFill>
              <a:srgbClr val="3C6B4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800600" y="3429000"/>
            <a:ext cx="1216152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 Auth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108192" y="3429000"/>
            <a:ext cx="1216152" cy="1078992"/>
          </a:xfrm>
          <a:prstGeom prst="rect">
            <a:avLst/>
          </a:prstGeom>
          <a:solidFill>
            <a:srgbClr val="143622"/>
          </a:solidFill>
          <a:ln w="12700">
            <a:solidFill>
              <a:srgbClr val="3C6B4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108192" y="3429000"/>
            <a:ext cx="1216152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jsQR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7415784" y="3429000"/>
            <a:ext cx="1216152" cy="1078992"/>
          </a:xfrm>
          <a:prstGeom prst="rect">
            <a:avLst/>
          </a:prstGeom>
          <a:solidFill>
            <a:srgbClr val="143622"/>
          </a:solidFill>
          <a:ln w="12700">
            <a:solidFill>
              <a:srgbClr val="3C6B4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415784" y="3429000"/>
            <a:ext cx="1216152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pdf-lib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50292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C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RecyTrack · Planta de Viñedos Familia Chadwick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818388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9C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D25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Veamos RecyTrack funcionando.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840480" y="1234440"/>
            <a:ext cx="1463040" cy="3108960"/>
          </a:xfrm>
          <a:prstGeom prst="roundRect">
            <a:avLst>
              <a:gd name="adj" fmla="val 15625"/>
            </a:avLst>
          </a:prstGeom>
          <a:solidFill>
            <a:srgbClr val="202622"/>
          </a:solidFill>
          <a:ln w="25400">
            <a:solidFill>
              <a:srgbClr val="6B736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950208" y="1371600"/>
            <a:ext cx="1243584" cy="2834640"/>
          </a:xfrm>
          <a:prstGeom prst="roundRect">
            <a:avLst>
              <a:gd name="adj" fmla="val 13235"/>
            </a:avLst>
          </a:prstGeom>
          <a:solidFill>
            <a:srgbClr val="1E4D2F"/>
          </a:solidFill>
          <a:ln w="12700">
            <a:solidFill>
              <a:srgbClr val="1E4D2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51960" y="2377440"/>
            <a:ext cx="640080" cy="6400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3484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Colaborador · Validador · Gestor · Panel web del administrador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RecyTrack — Fase 1</dc:title>
  <dc:subject>PptxGenJS Presentation</dc:subject>
  <dc:creator>PptxGenJS</dc:creator>
  <cp:lastModifiedBy>PptxGenJS</cp:lastModifiedBy>
  <cp:revision>1</cp:revision>
  <dcterms:created xsi:type="dcterms:W3CDTF">2026-09-30T19:08:29Z</dcterms:created>
  <dcterms:modified xsi:type="dcterms:W3CDTF">2026-09-30T19:08:29Z</dcterms:modified>
</cp:coreProperties>
</file>