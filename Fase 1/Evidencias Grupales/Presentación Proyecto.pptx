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D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1B2620"/>
          </a:solidFill>
          <a:ln w="12700">
            <a:solidFill>
              <a:srgbClr val="1B26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55080" y="1234440"/>
            <a:ext cx="2103120" cy="2103120"/>
          </a:xfrm>
          <a:prstGeom prst="ellipse">
            <a:avLst/>
          </a:prstGeom>
          <a:solidFill>
            <a:srgbClr val="1E4D2F"/>
          </a:solidFill>
          <a:ln w="31750">
            <a:solidFill>
              <a:srgbClr val="6FB07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49517" y="1528877"/>
            <a:ext cx="1514246" cy="1514246"/>
          </a:xfrm>
          <a:prstGeom prst="ellipse">
            <a:avLst/>
          </a:prstGeom>
          <a:solidFill>
            <a:srgbClr val="1E4D2F"/>
          </a:solidFill>
          <a:ln w="25400">
            <a:solidFill>
              <a:srgbClr val="A6D9A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86016" y="1865376"/>
            <a:ext cx="841248" cy="841248"/>
          </a:xfrm>
          <a:prstGeom prst="ellipse">
            <a:avLst/>
          </a:prstGeom>
          <a:solidFill>
            <a:srgbClr val="2F6B41"/>
          </a:solidFill>
          <a:ln w="19050">
            <a:solidFill>
              <a:srgbClr val="6FB07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1938528"/>
            <a:ext cx="694944" cy="6949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8229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RecyTrack</a:t>
            </a:r>
            <a:endParaRPr lang="en-US" sz="4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6916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5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trazabilidad de reciclaje colectivo con incentivos verificables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560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C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Aplicado a una planta de Viñedos Familia Chadwick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3832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Matías Bustamante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Álvaro Jaña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Vicente Torres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4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Alcance del prototipo: ecosistema funcional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749040" y="1874520"/>
            <a:ext cx="1645920" cy="1645920"/>
          </a:xfrm>
          <a:prstGeom prst="ellipse">
            <a:avLst/>
          </a:prstGeom>
          <a:solidFill>
            <a:srgbClr val="DCEFD9"/>
          </a:solidFill>
          <a:ln w="25400">
            <a:solidFill>
              <a:srgbClr val="3E8E4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2148840"/>
            <a:ext cx="731520" cy="731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749040" y="2926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65760" y="1005840"/>
            <a:ext cx="502920" cy="502920"/>
          </a:xfrm>
          <a:prstGeom prst="ellipse">
            <a:avLst/>
          </a:prstGeom>
          <a:solidFill>
            <a:srgbClr val="1E4D2F"/>
          </a:solidFill>
          <a:ln w="12700">
            <a:solidFill>
              <a:srgbClr val="1E4D2F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" y="1116482"/>
            <a:ext cx="281635" cy="28163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87552" y="960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1: Incorporación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987552" y="125272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del colaborador y vinculación a una sola área con código del administrador.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365760" y="2286000"/>
            <a:ext cx="502920" cy="502920"/>
          </a:xfrm>
          <a:prstGeom prst="ellipse">
            <a:avLst/>
          </a:prstGeom>
          <a:solidFill>
            <a:srgbClr val="1E4D2F"/>
          </a:solidFill>
          <a:ln w="12700">
            <a:solidFill>
              <a:srgbClr val="1E4D2F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02" y="2396642"/>
            <a:ext cx="281635" cy="28163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87552" y="22402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2: Registro QR</a:t>
            </a:r>
            <a:endParaRPr lang="en-US" sz="1250" dirty="0"/>
          </a:p>
        </p:txBody>
      </p:sp>
      <p:sp>
        <p:nvSpPr>
          <p:cNvPr id="13" name="Text 8"/>
          <p:cNvSpPr txBox="1"/>
          <p:nvPr/>
        </p:nvSpPr>
        <p:spPr>
          <a:xfrm>
            <a:off x="987552" y="253288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Escaneo del contenedor en el punto limpio, material y tamaño declarado.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365760" y="3566160"/>
            <a:ext cx="502920" cy="502920"/>
          </a:xfrm>
          <a:prstGeom prst="ellipse">
            <a:avLst/>
          </a:prstGeom>
          <a:solidFill>
            <a:srgbClr val="1E4D2F"/>
          </a:solidFill>
          <a:ln w="12700">
            <a:solidFill>
              <a:srgbClr val="1E4D2F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02" y="3676802"/>
            <a:ext cx="281635" cy="28163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87552" y="35204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3: Ronda diaria</a:t>
            </a:r>
            <a:endParaRPr lang="en-US" sz="1250" dirty="0"/>
          </a:p>
        </p:txBody>
      </p:sp>
      <p:sp>
        <p:nvSpPr>
          <p:cNvPr id="17" name="Text 11"/>
          <p:cNvSpPr txBox="1"/>
          <p:nvPr/>
        </p:nvSpPr>
        <p:spPr>
          <a:xfrm>
            <a:off x="987552" y="381304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validador marca cada punto limpio: conforme, con observación o sin material.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5852160" y="1005840"/>
            <a:ext cx="502920" cy="502920"/>
          </a:xfrm>
          <a:prstGeom prst="ellipse">
            <a:avLst/>
          </a:prstGeom>
          <a:solidFill>
            <a:srgbClr val="1E4D2F"/>
          </a:solidFill>
          <a:ln w="12700">
            <a:solidFill>
              <a:srgbClr val="1E4D2F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2802" y="1116482"/>
            <a:ext cx="281635" cy="28163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473952" y="960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6: Panel web</a:t>
            </a:r>
            <a:endParaRPr lang="en-US" sz="1250" dirty="0"/>
          </a:p>
        </p:txBody>
      </p:sp>
      <p:sp>
        <p:nvSpPr>
          <p:cNvPr id="21" name="Text 14"/>
          <p:cNvSpPr txBox="1"/>
          <p:nvPr/>
        </p:nvSpPr>
        <p:spPr>
          <a:xfrm>
            <a:off x="6473952" y="125272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limpios y QR, personas y áreas, rondas, retiros, reportes y configuración.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5852160" y="2286000"/>
            <a:ext cx="502920" cy="502920"/>
          </a:xfrm>
          <a:prstGeom prst="ellipse">
            <a:avLst/>
          </a:prstGeom>
          <a:solidFill>
            <a:srgbClr val="1E4D2F"/>
          </a:solidFill>
          <a:ln w="12700">
            <a:solidFill>
              <a:srgbClr val="1E4D2F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2802" y="2396642"/>
            <a:ext cx="281635" cy="281635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6473952" y="22402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5: Campañas por área</a:t>
            </a:r>
            <a:endParaRPr lang="en-US" sz="1250" dirty="0"/>
          </a:p>
        </p:txBody>
      </p:sp>
      <p:sp>
        <p:nvSpPr>
          <p:cNvPr id="25" name="Text 17"/>
          <p:cNvSpPr txBox="1"/>
          <p:nvPr/>
        </p:nvSpPr>
        <p:spPr>
          <a:xfrm>
            <a:off x="6473952" y="253288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por participación; metas e incentivos definidos por la planta.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5852160" y="3566160"/>
            <a:ext cx="502920" cy="502920"/>
          </a:xfrm>
          <a:prstGeom prst="ellipse">
            <a:avLst/>
          </a:prstGeom>
          <a:solidFill>
            <a:srgbClr val="1E4D2F"/>
          </a:solidFill>
          <a:ln w="12700">
            <a:solidFill>
              <a:srgbClr val="1E4D2F"/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62802" y="3676802"/>
            <a:ext cx="281635" cy="281635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6473952" y="35204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4: Retiros y reportes</a:t>
            </a:r>
            <a:endParaRPr lang="en-US" sz="1250" dirty="0"/>
          </a:p>
        </p:txBody>
      </p:sp>
      <p:sp>
        <p:nvSpPr>
          <p:cNvPr id="29" name="Text 20"/>
          <p:cNvSpPr txBox="1"/>
          <p:nvPr/>
        </p:nvSpPr>
        <p:spPr>
          <a:xfrm>
            <a:off x="6473952" y="381304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Retiro con peso opcional; reporte mensual y certificados en PDF.</a:t>
            </a:r>
            <a:endParaRPr lang="en-US" sz="1050" dirty="0"/>
          </a:p>
        </p:txBody>
      </p:sp>
      <p:sp>
        <p:nvSpPr>
          <p:cNvPr id="30" name="Text 21"/>
          <p:cNvSpPr txBox="1"/>
          <p:nvPr/>
        </p:nvSpPr>
        <p:spPr>
          <a:xfrm>
            <a:off x="50292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RecyTrack · Planta de Viñedos Familia Chadwick</a:t>
            </a:r>
            <a:endParaRPr lang="en-US" sz="900" dirty="0"/>
          </a:p>
        </p:txBody>
      </p:sp>
      <p:sp>
        <p:nvSpPr>
          <p:cNvPr id="31" name="Text 22"/>
          <p:cNvSpPr txBox="1"/>
          <p:nvPr/>
        </p:nvSpPr>
        <p:spPr>
          <a:xfrm>
            <a:off x="81838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4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del sistema: cliente y servidor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1005840"/>
            <a:ext cx="3840480" cy="3566160"/>
          </a:xfrm>
          <a:prstGeom prst="roundRect">
            <a:avLst>
              <a:gd name="adj" fmla="val 2051"/>
            </a:avLst>
          </a:prstGeom>
          <a:solidFill>
            <a:srgbClr val="EEF4EE"/>
          </a:solidFill>
          <a:ln w="15240">
            <a:solidFill>
              <a:srgbClr val="3E8E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892040" y="1005840"/>
            <a:ext cx="3840480" cy="3566160"/>
          </a:xfrm>
          <a:prstGeom prst="roundRect">
            <a:avLst>
              <a:gd name="adj" fmla="val 2051"/>
            </a:avLst>
          </a:prstGeom>
          <a:solidFill>
            <a:srgbClr val="EEF4EE"/>
          </a:solidFill>
          <a:ln w="15240">
            <a:solidFill>
              <a:srgbClr val="3E8E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1480" y="1097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cliente (app web instalable)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892040" y="1097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servidor (Firebase, sin backend propio)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1508760"/>
            <a:ext cx="34747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9D6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" y="1673352"/>
            <a:ext cx="530352" cy="530352"/>
          </a:xfrm>
          <a:prstGeom prst="ellipse">
            <a:avLst/>
          </a:prstGeom>
          <a:solidFill>
            <a:srgbClr val="DCEFD9"/>
          </a:solidFill>
          <a:ln w="12700">
            <a:solidFill>
              <a:srgbClr val="DCEFD9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765" y="1790029"/>
            <a:ext cx="296997" cy="29699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71600" y="1600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Vistas en el celular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371600" y="1874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 y validador de ronda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074920" y="1508760"/>
            <a:ext cx="34747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9D6C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84648" y="1673352"/>
            <a:ext cx="530352" cy="530352"/>
          </a:xfrm>
          <a:prstGeom prst="ellipse">
            <a:avLst/>
          </a:prstGeom>
          <a:solidFill>
            <a:srgbClr val="DCEFD9"/>
          </a:solidFill>
          <a:ln w="12700">
            <a:solidFill>
              <a:srgbClr val="DCEFD9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1325" y="1790029"/>
            <a:ext cx="296997" cy="29699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852160" y="1600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seguridad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5852160" y="1874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registra, valida y retira; con tests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94360" y="2496312"/>
            <a:ext cx="34747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9D6C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04088" y="2660904"/>
            <a:ext cx="530352" cy="530352"/>
          </a:xfrm>
          <a:prstGeom prst="ellipse">
            <a:avLst/>
          </a:prstGeom>
          <a:solidFill>
            <a:srgbClr val="DCEFD9"/>
          </a:solidFill>
          <a:ln w="12700">
            <a:solidFill>
              <a:srgbClr val="DCEFD9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765" y="2777581"/>
            <a:ext cx="296997" cy="296997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371600" y="25877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web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1371600" y="286207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 de planta; registra los retiros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074920" y="2496312"/>
            <a:ext cx="34747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9D6CC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184648" y="2660904"/>
            <a:ext cx="530352" cy="530352"/>
          </a:xfrm>
          <a:prstGeom prst="ellipse">
            <a:avLst/>
          </a:prstGeom>
          <a:solidFill>
            <a:srgbClr val="DCEFD9"/>
          </a:solidFill>
          <a:ln w="12700">
            <a:solidFill>
              <a:srgbClr val="DCEFD9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1325" y="2777581"/>
            <a:ext cx="296997" cy="29699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852160" y="25877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5852160" y="286207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 o Google; el administrador asigna al validador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594360" y="3483864"/>
            <a:ext cx="34747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9D6CC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704088" y="3648456"/>
            <a:ext cx="530352" cy="530352"/>
          </a:xfrm>
          <a:prstGeom prst="ellipse">
            <a:avLst/>
          </a:prstGeom>
          <a:solidFill>
            <a:srgbClr val="DCEFD9"/>
          </a:solidFill>
          <a:ln w="12700">
            <a:solidFill>
              <a:srgbClr val="DCEFD9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765" y="3765133"/>
            <a:ext cx="296997" cy="296997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357530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+ Expo + TypeScript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371600" y="384962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base de código, publicada como PWA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5074920" y="3483864"/>
            <a:ext cx="34747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9D6CC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5184648" y="3648456"/>
            <a:ext cx="530352" cy="530352"/>
          </a:xfrm>
          <a:prstGeom prst="ellipse">
            <a:avLst/>
          </a:prstGeom>
          <a:solidFill>
            <a:srgbClr val="DCEFD9"/>
          </a:solidFill>
          <a:ln w="12700">
            <a:solidFill>
              <a:srgbClr val="DCEFD9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1325" y="3765133"/>
            <a:ext cx="296997" cy="296997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5852160" y="357530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Firestore</a:t>
            </a:r>
            <a:endParaRPr lang="en-US" sz="1200" dirty="0"/>
          </a:p>
        </p:txBody>
      </p:sp>
      <p:sp>
        <p:nvSpPr>
          <p:cNvPr id="36" name="Text 28"/>
          <p:cNvSpPr txBox="1"/>
          <p:nvPr/>
        </p:nvSpPr>
        <p:spPr>
          <a:xfrm>
            <a:off x="5852160" y="384962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Planta, áreas, puntos limpios, contenedores, usuarios, depósitos, rondas, retiros, campañas</a:t>
            </a:r>
            <a:endParaRPr lang="en-US" sz="1000" dirty="0"/>
          </a:p>
        </p:txBody>
      </p:sp>
      <p:sp>
        <p:nvSpPr>
          <p:cNvPr id="37" name="Shape 29"/>
          <p:cNvSpPr/>
          <p:nvPr/>
        </p:nvSpPr>
        <p:spPr>
          <a:xfrm>
            <a:off x="4315968" y="2606040"/>
            <a:ext cx="512064" cy="365760"/>
          </a:xfrm>
          <a:prstGeom prst="leftRightArrow">
            <a:avLst/>
          </a:prstGeom>
          <a:solidFill>
            <a:srgbClr val="3E8E4A"/>
          </a:solidFill>
          <a:ln w="12700">
            <a:solidFill>
              <a:srgbClr val="3E8E4A"/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50292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RecyTrack · Planta de Viñedos Familia Chadwick</a:t>
            </a:r>
            <a:endParaRPr lang="en-US" sz="900" dirty="0"/>
          </a:p>
        </p:txBody>
      </p:sp>
      <p:sp>
        <p:nvSpPr>
          <p:cNvPr id="39" name="Text 31"/>
          <p:cNvSpPr txBox="1"/>
          <p:nvPr/>
        </p:nvSpPr>
        <p:spPr>
          <a:xfrm>
            <a:off x="81838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4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RecyTrack — Arquitectura general del sistema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1727200" y="868680"/>
            <a:ext cx="502920" cy="502920"/>
          </a:xfrm>
          <a:prstGeom prst="ellipse">
            <a:avLst/>
          </a:prstGeom>
          <a:solidFill>
            <a:srgbClr val="3E8E4A"/>
          </a:solidFill>
          <a:ln w="12700">
            <a:solidFill>
              <a:srgbClr val="3E8E4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7842" y="979322"/>
            <a:ext cx="281635" cy="28163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24280" y="138988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1974088" y="1664208"/>
            <a:ext cx="0" cy="301752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1270000" y="1993392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F1F5F1"/>
          </a:solidFill>
          <a:ln w="16510">
            <a:solidFill>
              <a:srgbClr val="3E8E4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270000" y="199339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QR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974088" y="2514600"/>
            <a:ext cx="0" cy="301752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4318000" y="868680"/>
            <a:ext cx="502920" cy="502920"/>
          </a:xfrm>
          <a:prstGeom prst="ellipse">
            <a:avLst/>
          </a:prstGeom>
          <a:solidFill>
            <a:srgbClr val="C98A1A"/>
          </a:solidFill>
          <a:ln w="12700">
            <a:solidFill>
              <a:srgbClr val="C98A1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642" y="979322"/>
            <a:ext cx="281635" cy="28163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815080" y="138988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Validador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64888" y="1664208"/>
            <a:ext cx="0" cy="301752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3860800" y="1993392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F1F5F1"/>
          </a:solidFill>
          <a:ln w="16510">
            <a:solidFill>
              <a:srgbClr val="C98A1A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860800" y="199339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Ronda diaria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64888" y="2514600"/>
            <a:ext cx="0" cy="301752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24" name="Shape 19"/>
          <p:cNvSpPr/>
          <p:nvPr/>
        </p:nvSpPr>
        <p:spPr>
          <a:xfrm>
            <a:off x="6908800" y="868680"/>
            <a:ext cx="502920" cy="502920"/>
          </a:xfrm>
          <a:prstGeom prst="ellipse">
            <a:avLst/>
          </a:prstGeom>
          <a:solidFill>
            <a:srgbClr val="3B6BB0"/>
          </a:solidFill>
          <a:ln w="12700">
            <a:solidFill>
              <a:srgbClr val="3B6BB0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9442" y="979322"/>
            <a:ext cx="281635" cy="281635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405880" y="138988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7155688" y="1664208"/>
            <a:ext cx="0" cy="301752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6451600" y="1993392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F1F5F1"/>
          </a:solidFill>
          <a:ln w="16510">
            <a:solidFill>
              <a:srgbClr val="3B6BB0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6451600" y="199339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web y retiros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7155688" y="2514600"/>
            <a:ext cx="0" cy="301752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31" name="Shape 25"/>
          <p:cNvSpPr/>
          <p:nvPr/>
        </p:nvSpPr>
        <p:spPr>
          <a:xfrm>
            <a:off x="502920" y="1874520"/>
            <a:ext cx="8138160" cy="749808"/>
          </a:xfrm>
          <a:prstGeom prst="rect">
            <a:avLst/>
          </a:prstGeom>
          <a:ln w="12700">
            <a:solidFill>
              <a:srgbClr val="3E8E4A"/>
            </a:solidFill>
            <a:prstDash val="dash"/>
          </a:ln>
        </p:spPr>
      </p:sp>
      <p:sp>
        <p:nvSpPr>
          <p:cNvPr id="32" name="Text 26"/>
          <p:cNvSpPr txBox="1"/>
          <p:nvPr/>
        </p:nvSpPr>
        <p:spPr>
          <a:xfrm>
            <a:off x="2286000" y="170078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3E8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RecyTrack (React Native · PWA)</a:t>
            </a:r>
            <a:endParaRPr lang="en-US" sz="850" dirty="0"/>
          </a:p>
        </p:txBody>
      </p:sp>
      <p:sp>
        <p:nvSpPr>
          <p:cNvPr id="33" name="Shape 27"/>
          <p:cNvSpPr/>
          <p:nvPr/>
        </p:nvSpPr>
        <p:spPr>
          <a:xfrm>
            <a:off x="685800" y="2852928"/>
            <a:ext cx="7772400" cy="548640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6510">
            <a:solidFill>
              <a:srgbClr val="C8962E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685800" y="285292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5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seguridad de Firestore: cadena de verificación, roles y permisos por área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4572000" y="3419856"/>
            <a:ext cx="0" cy="27432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36" name="Shape 30"/>
          <p:cNvSpPr/>
          <p:nvPr/>
        </p:nvSpPr>
        <p:spPr>
          <a:xfrm>
            <a:off x="502920" y="3721608"/>
            <a:ext cx="8138160" cy="868680"/>
          </a:xfrm>
          <a:prstGeom prst="roundRect">
            <a:avLst>
              <a:gd name="adj" fmla="val 6316"/>
            </a:avLst>
          </a:prstGeom>
          <a:solidFill>
            <a:srgbClr val="EAF1FA"/>
          </a:solidFill>
          <a:ln w="12700">
            <a:solidFill>
              <a:srgbClr val="3B6BB0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640080" y="3749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6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Firestore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685800" y="4005072"/>
            <a:ext cx="868680" cy="502920"/>
          </a:xfrm>
          <a:prstGeom prst="can">
            <a:avLst/>
          </a:prstGeom>
          <a:solidFill>
            <a:srgbClr val="FFFFFF"/>
          </a:solidFill>
          <a:ln w="12700">
            <a:solidFill>
              <a:srgbClr val="3B6BB0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685800" y="413308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plantas</a:t>
            </a:r>
            <a:endParaRPr lang="en-US" sz="850" dirty="0"/>
          </a:p>
        </p:txBody>
      </p:sp>
      <p:sp>
        <p:nvSpPr>
          <p:cNvPr id="40" name="Shape 34"/>
          <p:cNvSpPr/>
          <p:nvPr/>
        </p:nvSpPr>
        <p:spPr>
          <a:xfrm>
            <a:off x="1673352" y="4005072"/>
            <a:ext cx="868680" cy="502920"/>
          </a:xfrm>
          <a:prstGeom prst="can">
            <a:avLst/>
          </a:prstGeom>
          <a:solidFill>
            <a:srgbClr val="FFFFFF"/>
          </a:solidFill>
          <a:ln w="12700">
            <a:solidFill>
              <a:srgbClr val="3B6BB0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1673352" y="413308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</a:t>
            </a:r>
            <a:endParaRPr lang="en-US" sz="850" dirty="0"/>
          </a:p>
        </p:txBody>
      </p:sp>
      <p:sp>
        <p:nvSpPr>
          <p:cNvPr id="42" name="Shape 36"/>
          <p:cNvSpPr/>
          <p:nvPr/>
        </p:nvSpPr>
        <p:spPr>
          <a:xfrm>
            <a:off x="2660904" y="4005072"/>
            <a:ext cx="868680" cy="502920"/>
          </a:xfrm>
          <a:prstGeom prst="can">
            <a:avLst/>
          </a:prstGeom>
          <a:solidFill>
            <a:srgbClr val="FFFFFF"/>
          </a:solidFill>
          <a:ln w="12700">
            <a:solidFill>
              <a:srgbClr val="3B6BB0"/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2660904" y="413308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limpios</a:t>
            </a:r>
            <a:endParaRPr lang="en-US" sz="850" dirty="0"/>
          </a:p>
        </p:txBody>
      </p:sp>
      <p:sp>
        <p:nvSpPr>
          <p:cNvPr id="44" name="Shape 38"/>
          <p:cNvSpPr/>
          <p:nvPr/>
        </p:nvSpPr>
        <p:spPr>
          <a:xfrm>
            <a:off x="3648456" y="4005072"/>
            <a:ext cx="868680" cy="502920"/>
          </a:xfrm>
          <a:prstGeom prst="can">
            <a:avLst/>
          </a:prstGeom>
          <a:solidFill>
            <a:srgbClr val="FFFFFF"/>
          </a:solidFill>
          <a:ln w="12700">
            <a:solidFill>
              <a:srgbClr val="3B6BB0"/>
            </a:solidFill>
            <a:prstDash val="solid"/>
          </a:ln>
        </p:spPr>
      </p:sp>
      <p:sp>
        <p:nvSpPr>
          <p:cNvPr id="45" name="Text 39"/>
          <p:cNvSpPr txBox="1"/>
          <p:nvPr/>
        </p:nvSpPr>
        <p:spPr>
          <a:xfrm>
            <a:off x="3648456" y="413308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endParaRPr lang="en-US" sz="850" dirty="0"/>
          </a:p>
        </p:txBody>
      </p:sp>
      <p:sp>
        <p:nvSpPr>
          <p:cNvPr id="46" name="Shape 40"/>
          <p:cNvSpPr/>
          <p:nvPr/>
        </p:nvSpPr>
        <p:spPr>
          <a:xfrm>
            <a:off x="4636008" y="4005072"/>
            <a:ext cx="868680" cy="502920"/>
          </a:xfrm>
          <a:prstGeom prst="can">
            <a:avLst/>
          </a:prstGeom>
          <a:solidFill>
            <a:srgbClr val="FFFFFF"/>
          </a:solidFill>
          <a:ln w="12700">
            <a:solidFill>
              <a:srgbClr val="3B6BB0"/>
            </a:solidFill>
            <a:prstDash val="solid"/>
          </a:ln>
        </p:spPr>
      </p:sp>
      <p:sp>
        <p:nvSpPr>
          <p:cNvPr id="47" name="Text 41"/>
          <p:cNvSpPr txBox="1"/>
          <p:nvPr/>
        </p:nvSpPr>
        <p:spPr>
          <a:xfrm>
            <a:off x="4636008" y="413308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depósitos</a:t>
            </a:r>
            <a:endParaRPr lang="en-US" sz="850" dirty="0"/>
          </a:p>
        </p:txBody>
      </p:sp>
      <p:sp>
        <p:nvSpPr>
          <p:cNvPr id="48" name="Shape 42"/>
          <p:cNvSpPr/>
          <p:nvPr/>
        </p:nvSpPr>
        <p:spPr>
          <a:xfrm>
            <a:off x="5623560" y="4005072"/>
            <a:ext cx="868680" cy="502920"/>
          </a:xfrm>
          <a:prstGeom prst="can">
            <a:avLst/>
          </a:prstGeom>
          <a:solidFill>
            <a:srgbClr val="FFFFFF"/>
          </a:solidFill>
          <a:ln w="12700">
            <a:solidFill>
              <a:srgbClr val="3B6BB0"/>
            </a:solidFill>
            <a:prstDash val="solid"/>
          </a:ln>
        </p:spPr>
      </p:sp>
      <p:sp>
        <p:nvSpPr>
          <p:cNvPr id="49" name="Text 43"/>
          <p:cNvSpPr txBox="1"/>
          <p:nvPr/>
        </p:nvSpPr>
        <p:spPr>
          <a:xfrm>
            <a:off x="5623560" y="413308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rondas</a:t>
            </a:r>
            <a:endParaRPr lang="en-US" sz="850" dirty="0"/>
          </a:p>
        </p:txBody>
      </p:sp>
      <p:sp>
        <p:nvSpPr>
          <p:cNvPr id="50" name="Shape 44"/>
          <p:cNvSpPr/>
          <p:nvPr/>
        </p:nvSpPr>
        <p:spPr>
          <a:xfrm>
            <a:off x="6611112" y="4005072"/>
            <a:ext cx="868680" cy="502920"/>
          </a:xfrm>
          <a:prstGeom prst="can">
            <a:avLst/>
          </a:prstGeom>
          <a:solidFill>
            <a:srgbClr val="FFFFFF"/>
          </a:solidFill>
          <a:ln w="12700">
            <a:solidFill>
              <a:srgbClr val="3B6BB0"/>
            </a:solidFill>
            <a:prstDash val="solid"/>
          </a:ln>
        </p:spPr>
      </p:sp>
      <p:sp>
        <p:nvSpPr>
          <p:cNvPr id="51" name="Text 45"/>
          <p:cNvSpPr txBox="1"/>
          <p:nvPr/>
        </p:nvSpPr>
        <p:spPr>
          <a:xfrm>
            <a:off x="6611112" y="413308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retiros</a:t>
            </a:r>
            <a:endParaRPr lang="en-US" sz="850" dirty="0"/>
          </a:p>
        </p:txBody>
      </p:sp>
      <p:sp>
        <p:nvSpPr>
          <p:cNvPr id="52" name="Shape 46"/>
          <p:cNvSpPr/>
          <p:nvPr/>
        </p:nvSpPr>
        <p:spPr>
          <a:xfrm>
            <a:off x="7598664" y="4005072"/>
            <a:ext cx="868680" cy="502920"/>
          </a:xfrm>
          <a:prstGeom prst="can">
            <a:avLst/>
          </a:prstGeom>
          <a:solidFill>
            <a:srgbClr val="FFFFFF"/>
          </a:solidFill>
          <a:ln w="12700">
            <a:solidFill>
              <a:srgbClr val="3B6BB0"/>
            </a:solidFill>
            <a:prstDash val="solid"/>
          </a:ln>
        </p:spPr>
      </p:sp>
      <p:sp>
        <p:nvSpPr>
          <p:cNvPr id="53" name="Text 47"/>
          <p:cNvSpPr txBox="1"/>
          <p:nvPr/>
        </p:nvSpPr>
        <p:spPr>
          <a:xfrm>
            <a:off x="7598664" y="413308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campañas</a:t>
            </a:r>
            <a:endParaRPr lang="en-US" sz="850" dirty="0"/>
          </a:p>
        </p:txBody>
      </p:sp>
      <p:sp>
        <p:nvSpPr>
          <p:cNvPr id="54" name="Text 48"/>
          <p:cNvSpPr txBox="1"/>
          <p:nvPr/>
        </p:nvSpPr>
        <p:spPr>
          <a:xfrm>
            <a:off x="50292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RecyTrack · Planta de Viñedos Familia Chadwick</a:t>
            </a:r>
            <a:endParaRPr lang="en-US" sz="900" dirty="0"/>
          </a:p>
        </p:txBody>
      </p:sp>
      <p:sp>
        <p:nvSpPr>
          <p:cNvPr id="55" name="Text 49"/>
          <p:cNvSpPr txBox="1"/>
          <p:nvPr/>
        </p:nvSpPr>
        <p:spPr>
          <a:xfrm>
            <a:off x="81838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4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crítico de trazabilidad verificable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686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 del dato (menos de 48 h por etapa)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920240" cy="3108960"/>
          </a:xfrm>
          <a:prstGeom prst="roundRect">
            <a:avLst>
              <a:gd name="adj" fmla="val 3810"/>
            </a:avLst>
          </a:prstGeom>
          <a:solidFill>
            <a:srgbClr val="E3E7E3"/>
          </a:solidFill>
          <a:ln w="12700">
            <a:solidFill>
              <a:srgbClr val="3E8E4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508760"/>
            <a:ext cx="640080" cy="640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240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1: Captura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6517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(Colaborador)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9718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 el QR del contenedor y declara material y tamaño.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931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[Estado: pendiente]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395728" y="2743200"/>
            <a:ext cx="146304" cy="274320"/>
          </a:xfrm>
          <a:prstGeom prst="rightArrow">
            <a:avLst/>
          </a:prstGeom>
          <a:solidFill>
            <a:srgbClr val="3E8E4A"/>
          </a:solidFill>
          <a:ln w="12700">
            <a:solidFill>
              <a:srgbClr val="3E8E4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60320" y="1325880"/>
            <a:ext cx="1920240" cy="3108960"/>
          </a:xfrm>
          <a:prstGeom prst="roundRect">
            <a:avLst>
              <a:gd name="adj" fmla="val 3810"/>
            </a:avLst>
          </a:prstGeom>
          <a:solidFill>
            <a:srgbClr val="CFE6CF"/>
          </a:solidFill>
          <a:ln w="12700">
            <a:solidFill>
              <a:srgbClr val="3E8E4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50876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651760" y="2240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2: Validación en ronda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2651760" y="26517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(Validador)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2697480" y="29718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a la vista cada punto limpio una vez al día.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2651760" y="3931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[Estado: validado]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498848" y="2743200"/>
            <a:ext cx="146304" cy="274320"/>
          </a:xfrm>
          <a:prstGeom prst="rightArrow">
            <a:avLst/>
          </a:prstGeom>
          <a:solidFill>
            <a:srgbClr val="3E8E4A"/>
          </a:solidFill>
          <a:ln w="12700">
            <a:solidFill>
              <a:srgbClr val="3E8E4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663440" y="1325880"/>
            <a:ext cx="1920240" cy="3108960"/>
          </a:xfrm>
          <a:prstGeom prst="roundRect">
            <a:avLst>
              <a:gd name="adj" fmla="val 3810"/>
            </a:avLst>
          </a:prstGeom>
          <a:solidFill>
            <a:srgbClr val="2A6340"/>
          </a:solidFill>
          <a:ln w="12700">
            <a:solidFill>
              <a:srgbClr val="3E8E4A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508760"/>
            <a:ext cx="640080" cy="64008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754880" y="2240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3: Retiro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4754880" y="26517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(Administrador)</a:t>
            </a:r>
            <a:endParaRPr lang="en-US" sz="1050" dirty="0"/>
          </a:p>
        </p:txBody>
      </p:sp>
      <p:sp>
        <p:nvSpPr>
          <p:cNvPr id="22" name="Text 17"/>
          <p:cNvSpPr txBox="1"/>
          <p:nvPr/>
        </p:nvSpPr>
        <p:spPr>
          <a:xfrm>
            <a:off x="4800600" y="29718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el retiro en el panel web; con peso real pasa a verificado.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4754880" y="3931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[Estado: certificado]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6601968" y="2743200"/>
            <a:ext cx="146304" cy="274320"/>
          </a:xfrm>
          <a:prstGeom prst="rightArrow">
            <a:avLst/>
          </a:prstGeom>
          <a:solidFill>
            <a:srgbClr val="3E8E4A"/>
          </a:solidFill>
          <a:ln w="12700">
            <a:solidFill>
              <a:srgbClr val="3E8E4A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766560" y="1325880"/>
            <a:ext cx="1920240" cy="3108960"/>
          </a:xfrm>
          <a:prstGeom prst="roundRect">
            <a:avLst>
              <a:gd name="adj" fmla="val 3810"/>
            </a:avLst>
          </a:prstGeom>
          <a:solidFill>
            <a:srgbClr val="143622"/>
          </a:solidFill>
          <a:ln w="25400">
            <a:solidFill>
              <a:srgbClr val="C8962E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1508760"/>
            <a:ext cx="640080" cy="64008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858000" y="2240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4: Reporte</a:t>
            </a:r>
            <a:endParaRPr lang="en-US" sz="1250" dirty="0"/>
          </a:p>
        </p:txBody>
      </p:sp>
      <p:sp>
        <p:nvSpPr>
          <p:cNvPr id="28" name="Text 22"/>
          <p:cNvSpPr txBox="1"/>
          <p:nvPr/>
        </p:nvSpPr>
        <p:spPr>
          <a:xfrm>
            <a:off x="6858000" y="26517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(Sistema)</a:t>
            </a:r>
            <a:endParaRPr lang="en-US" sz="1050" dirty="0"/>
          </a:p>
        </p:txBody>
      </p:sp>
      <p:sp>
        <p:nvSpPr>
          <p:cNvPr id="29" name="Text 23"/>
          <p:cNvSpPr txBox="1"/>
          <p:nvPr/>
        </p:nvSpPr>
        <p:spPr>
          <a:xfrm>
            <a:off x="6903720" y="29718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mensual de la planta y certificados con código único.</a:t>
            </a:r>
            <a:endParaRPr lang="en-US" sz="1050" dirty="0"/>
          </a:p>
        </p:txBody>
      </p:sp>
      <p:sp>
        <p:nvSpPr>
          <p:cNvPr id="30" name="Text 24"/>
          <p:cNvSpPr txBox="1"/>
          <p:nvPr/>
        </p:nvSpPr>
        <p:spPr>
          <a:xfrm>
            <a:off x="6858000" y="3931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[Salida: evidencia]</a:t>
            </a:r>
            <a:endParaRPr lang="en-US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50292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RecyTrack · Planta de Viñedos Familia Chadwick</a:t>
            </a:r>
            <a:endParaRPr lang="en-US" sz="900" dirty="0"/>
          </a:p>
        </p:txBody>
      </p:sp>
      <p:sp>
        <p:nvSpPr>
          <p:cNvPr id="32" name="Text 26"/>
          <p:cNvSpPr txBox="1"/>
          <p:nvPr/>
        </p:nvSpPr>
        <p:spPr>
          <a:xfrm>
            <a:off x="81838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Visión de expansión: hacia la automatización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2560320" cy="3429000"/>
          </a:xfrm>
          <a:prstGeom prst="roundRect">
            <a:avLst>
              <a:gd name="adj" fmla="val 2857"/>
            </a:avLst>
          </a:prstGeom>
          <a:solidFill>
            <a:srgbClr val="F1F5F1"/>
          </a:solidFill>
          <a:ln w="12700">
            <a:solidFill>
              <a:srgbClr val="C9D6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1280160"/>
            <a:ext cx="640080" cy="640080"/>
          </a:xfrm>
          <a:prstGeom prst="ellipse">
            <a:avLst/>
          </a:prstGeom>
          <a:solidFill>
            <a:srgbClr val="DCEFD9"/>
          </a:solidFill>
          <a:ln w="12700">
            <a:solidFill>
              <a:srgbClr val="DCEFD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3858" y="1420978"/>
            <a:ext cx="358445" cy="35844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057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plantas y viñas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56032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Varias plantas en un mismo panel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entre plantas y áreas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Resúmenes calculados en el servidor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46120" y="1051560"/>
            <a:ext cx="2560320" cy="3429000"/>
          </a:xfrm>
          <a:prstGeom prst="roundRect">
            <a:avLst>
              <a:gd name="adj" fmla="val 2857"/>
            </a:avLst>
          </a:prstGeom>
          <a:solidFill>
            <a:srgbClr val="E3ECE4"/>
          </a:solidFill>
          <a:ln w="12700">
            <a:solidFill>
              <a:srgbClr val="C9D6C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206240" y="1280160"/>
            <a:ext cx="640080" cy="640080"/>
          </a:xfrm>
          <a:prstGeom prst="ellipse">
            <a:avLst/>
          </a:prstGeom>
          <a:solidFill>
            <a:srgbClr val="DCEFD9"/>
          </a:solidFill>
          <a:ln w="12700">
            <a:solidFill>
              <a:srgbClr val="DCEFD9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7058" y="1420978"/>
            <a:ext cx="358445" cy="35844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383280" y="2057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real en el retiro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256032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Balanzas o peso informado por quien retira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útiles para la Ley REP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quien retira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989320" y="1051560"/>
            <a:ext cx="2560320" cy="3429000"/>
          </a:xfrm>
          <a:prstGeom prst="roundRect">
            <a:avLst>
              <a:gd name="adj" fmla="val 2857"/>
            </a:avLst>
          </a:prstGeom>
          <a:solidFill>
            <a:srgbClr val="1E4D2F"/>
          </a:solidFill>
          <a:ln w="25400">
            <a:solidFill>
              <a:srgbClr val="C8962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949440" y="1280160"/>
            <a:ext cx="640080" cy="640080"/>
          </a:xfrm>
          <a:prstGeom prst="ellipse">
            <a:avLst/>
          </a:prstGeom>
          <a:solidFill>
            <a:srgbClr val="2A6340"/>
          </a:solidFill>
          <a:ln w="12700">
            <a:solidFill>
              <a:srgbClr val="2A634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0258" y="1420978"/>
            <a:ext cx="358445" cy="35844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126480" y="2057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limpios inteligentes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256032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de llenado y alertas de punto lleno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automático al depositar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validación manual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502920" y="452628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requiere rediseñar el núcleo: el modelo ya reserva el peso real y la arquitectura admite nuevas plantas.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RecyTrack — Presentación del proyecto</dc:title>
  <dc:subject>PptxGenJS Presentation</dc:subject>
  <dc:creator>PptxGenJS</dc:creator>
  <cp:lastModifiedBy>PptxGenJS</cp:lastModifiedBy>
  <cp:revision>1</cp:revision>
  <dcterms:created xsi:type="dcterms:W3CDTF">2026-09-30T19:08:29Z</dcterms:created>
  <dcterms:modified xsi:type="dcterms:W3CDTF">2026-09-30T19:08:29Z</dcterms:modified>
</cp:coreProperties>
</file>