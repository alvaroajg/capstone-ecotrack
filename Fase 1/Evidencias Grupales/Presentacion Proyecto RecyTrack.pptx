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2620"/>
          </a:solidFill>
          <a:ln w="12700">
            <a:solidFill>
              <a:srgbClr val="1B26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1234440"/>
            <a:ext cx="2103120" cy="2103120"/>
          </a:xfrm>
          <a:prstGeom prst="ellipse">
            <a:avLst/>
          </a:prstGeom>
          <a:solidFill>
            <a:srgbClr val="1E4D2F"/>
          </a:solidFill>
          <a:ln w="31750">
            <a:solidFill>
              <a:srgbClr val="6FB0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49517" y="1528877"/>
            <a:ext cx="1514246" cy="1514246"/>
          </a:xfrm>
          <a:prstGeom prst="ellipse">
            <a:avLst/>
          </a:prstGeom>
          <a:solidFill>
            <a:srgbClr val="1E4D2F"/>
          </a:solidFill>
          <a:ln w="25400">
            <a:solidFill>
              <a:srgbClr val="A6D9A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86016" y="1865376"/>
            <a:ext cx="841248" cy="841248"/>
          </a:xfrm>
          <a:prstGeom prst="ellipse">
            <a:avLst/>
          </a:prstGeom>
          <a:solidFill>
            <a:srgbClr val="2F6B41"/>
          </a:solidFill>
          <a:ln w="19050">
            <a:solidFill>
              <a:srgbClr val="6FB0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938528"/>
            <a:ext cx="694944" cy="6949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822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trazabilidad de reciclaje colectivo con incentivos verificables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a una planta de Viñedos Familia Chadwick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Matías Bustamante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Jaña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Torres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del prototipo: ecosistema funcional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749040" y="1874520"/>
            <a:ext cx="1645920" cy="1645920"/>
          </a:xfrm>
          <a:prstGeom prst="ellipse">
            <a:avLst/>
          </a:prstGeom>
          <a:solidFill>
            <a:srgbClr val="DCEFD9"/>
          </a:solidFill>
          <a:ln w="25400">
            <a:solidFill>
              <a:srgbClr val="3E8E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1488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74904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" y="1116482"/>
            <a:ext cx="281635" cy="28163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87552" y="960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1: Incorporación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987552" y="1252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colaborador y vinculación a una sola área con código del administrador.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228600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" y="239664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87552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2: Registro QR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87552" y="2532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del contenedor en el punto limpio, material y tamaño declarado.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65760" y="356616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" y="3676802"/>
            <a:ext cx="281635" cy="28163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3: Ronda diaria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987552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validador marca cada punto limpio: conforme, con observación o sin material.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852160" y="100584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802" y="1116482"/>
            <a:ext cx="281635" cy="28163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73952" y="9601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6: Panel web</a:t>
            </a:r>
            <a:endParaRPr lang="en-US" sz="1250" dirty="0"/>
          </a:p>
        </p:txBody>
      </p:sp>
      <p:sp>
        <p:nvSpPr>
          <p:cNvPr id="21" name="Text 14"/>
          <p:cNvSpPr txBox="1"/>
          <p:nvPr/>
        </p:nvSpPr>
        <p:spPr>
          <a:xfrm>
            <a:off x="6473952" y="12527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 y QR, personas y áreas, rondas, retiros, reportes y configuración.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852160" y="228600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802" y="2396642"/>
            <a:ext cx="281635" cy="28163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73952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5: Campañas por área</a:t>
            </a:r>
            <a:endParaRPr lang="en-US" sz="1250" dirty="0"/>
          </a:p>
        </p:txBody>
      </p:sp>
      <p:sp>
        <p:nvSpPr>
          <p:cNvPr id="25" name="Text 17"/>
          <p:cNvSpPr txBox="1"/>
          <p:nvPr/>
        </p:nvSpPr>
        <p:spPr>
          <a:xfrm>
            <a:off x="6473952" y="25328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por participación; metas e incentivos definidos por la planta.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852160" y="3566160"/>
            <a:ext cx="502920" cy="502920"/>
          </a:xfrm>
          <a:prstGeom prst="ellipse">
            <a:avLst/>
          </a:prstGeom>
          <a:solidFill>
            <a:srgbClr val="1E4D2F"/>
          </a:solidFill>
          <a:ln w="12700">
            <a:solidFill>
              <a:srgbClr val="1E4D2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2802" y="3676802"/>
            <a:ext cx="281635" cy="28163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473952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4: Retiros y reportes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473952" y="381304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 con peso opcional; reporte mensual y certificados en PDF.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sistema: cliente y servidor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EEF4EE"/>
          </a:solidFill>
          <a:ln w="15240">
            <a:solidFill>
              <a:srgbClr val="3E8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92040" y="100584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EEF4EE"/>
          </a:solidFill>
          <a:ln w="15240">
            <a:solidFill>
              <a:srgbClr val="3E8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cliente (app web instalable)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D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servidor (Firebase, sin backend propio)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673352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765" y="1790029"/>
            <a:ext cx="296997" cy="29699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en el celular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Colaborador, validador de ronda y gestor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74920" y="1508760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84648" y="1673352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325" y="1790029"/>
            <a:ext cx="296997" cy="29699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5216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52160" y="1874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registra, valida y retira; con tests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360" y="24963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4088" y="2660904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" y="2777581"/>
            <a:ext cx="296997" cy="29699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de planta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74920" y="2496312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184648" y="2660904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1325" y="2777581"/>
            <a:ext cx="296997" cy="29699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852160" y="2587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85216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o Google; roles por código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94360" y="3483864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04088" y="3648456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765" y="3765133"/>
            <a:ext cx="296997" cy="29699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+ TypeScript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1371600" y="38496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 de código, publicada como PWA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074920" y="3483864"/>
            <a:ext cx="34747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184648" y="3648456"/>
            <a:ext cx="530352" cy="530352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325" y="3765133"/>
            <a:ext cx="296997" cy="29699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852160" y="35753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5852160" y="38496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Planta, áreas, puntos limpios, contenedores, usuarios, depósitos, rondas, retiros, campañas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4315968" y="2606040"/>
            <a:ext cx="512064" cy="365760"/>
          </a:xfrm>
          <a:prstGeom prst="left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RecyTrack — Arquitectura general del sistema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143000" y="868680"/>
            <a:ext cx="502920" cy="502920"/>
          </a:xfrm>
          <a:prstGeom prst="ellipse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3642" y="97932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898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858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3E8E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QR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898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200400" y="868680"/>
            <a:ext cx="502920" cy="502920"/>
          </a:xfrm>
          <a:prstGeom prst="ellipse">
            <a:avLst/>
          </a:prstGeom>
          <a:solidFill>
            <a:srgbClr val="C98A1A"/>
          </a:solidFill>
          <a:ln w="12700">
            <a:solidFill>
              <a:srgbClr val="C98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042" y="9793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974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4472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7432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C98A1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7432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diaria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472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257800" y="868680"/>
            <a:ext cx="502920" cy="502920"/>
          </a:xfrm>
          <a:prstGeom prst="ellipse">
            <a:avLst/>
          </a:prstGeom>
          <a:solidFill>
            <a:srgbClr val="7659A8"/>
          </a:solidFill>
          <a:ln w="12700">
            <a:solidFill>
              <a:srgbClr val="7659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442" y="97932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7548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046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48006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7659A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8006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5046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315200" y="868680"/>
            <a:ext cx="502920" cy="502920"/>
          </a:xfrm>
          <a:prstGeom prst="ellipse">
            <a:avLst/>
          </a:prstGeom>
          <a:solidFill>
            <a:srgbClr val="3B6BB0"/>
          </a:solidFill>
          <a:ln w="12700">
            <a:solidFill>
              <a:srgbClr val="3B6BB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842" y="979322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812280" y="13898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562088" y="1664208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6858000" y="1993392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1F5F1"/>
          </a:solidFill>
          <a:ln w="16510">
            <a:solidFill>
              <a:srgbClr val="3B6BB0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58000" y="199339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web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562088" y="2514600"/>
            <a:ext cx="0" cy="30175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502920" y="1874520"/>
            <a:ext cx="8138160" cy="749808"/>
          </a:xfrm>
          <a:prstGeom prst="rect">
            <a:avLst/>
          </a:prstGeom>
          <a:ln w="12700">
            <a:solidFill>
              <a:srgbClr val="3E8E4A"/>
            </a:solidFill>
            <a:prstDash val="dash"/>
          </a:ln>
        </p:spPr>
      </p:sp>
      <p:sp>
        <p:nvSpPr>
          <p:cNvPr id="32" name="Text 26"/>
          <p:cNvSpPr txBox="1"/>
          <p:nvPr/>
        </p:nvSpPr>
        <p:spPr>
          <a:xfrm>
            <a:off x="1600200" y="17007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E8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RecyTrack (React Native · PWA)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85800" y="2852928"/>
            <a:ext cx="7772400" cy="548640"/>
          </a:xfrm>
          <a:prstGeom prst="roundRect">
            <a:avLst>
              <a:gd name="adj" fmla="val 10000"/>
            </a:avLst>
          </a:prstGeom>
          <a:solidFill>
            <a:srgbClr val="FDF3DC"/>
          </a:solidFill>
          <a:ln w="16510">
            <a:solidFill>
              <a:srgbClr val="C8962E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85800" y="28529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5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seguridad de Firestore: cadena de verificación, roles y permisos por área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4572000" y="3419856"/>
            <a:ext cx="0" cy="27432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6" name="Shape 30"/>
          <p:cNvSpPr/>
          <p:nvPr/>
        </p:nvSpPr>
        <p:spPr>
          <a:xfrm>
            <a:off x="502920" y="3721608"/>
            <a:ext cx="8138160" cy="868680"/>
          </a:xfrm>
          <a:prstGeom prst="roundRect">
            <a:avLst>
              <a:gd name="adj" fmla="val 6316"/>
            </a:avLst>
          </a:prstGeom>
          <a:solidFill>
            <a:srgbClr val="EAF1FA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008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85800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85800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1673352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1673352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2660904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2660904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3648456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3648456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850" dirty="0"/>
          </a:p>
        </p:txBody>
      </p:sp>
      <p:sp>
        <p:nvSpPr>
          <p:cNvPr id="46" name="Shape 40"/>
          <p:cNvSpPr/>
          <p:nvPr/>
        </p:nvSpPr>
        <p:spPr>
          <a:xfrm>
            <a:off x="4636008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4636008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depósitos</a:t>
            </a:r>
            <a:endParaRPr lang="en-US" sz="850" dirty="0"/>
          </a:p>
        </p:txBody>
      </p:sp>
      <p:sp>
        <p:nvSpPr>
          <p:cNvPr id="48" name="Shape 42"/>
          <p:cNvSpPr/>
          <p:nvPr/>
        </p:nvSpPr>
        <p:spPr>
          <a:xfrm>
            <a:off x="5623560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5623560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rondas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6611112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611112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retiros</a:t>
            </a:r>
            <a:endParaRPr lang="en-US" sz="850" dirty="0"/>
          </a:p>
        </p:txBody>
      </p:sp>
      <p:sp>
        <p:nvSpPr>
          <p:cNvPr id="52" name="Shape 46"/>
          <p:cNvSpPr/>
          <p:nvPr/>
        </p:nvSpPr>
        <p:spPr>
          <a:xfrm>
            <a:off x="7598664" y="4005072"/>
            <a:ext cx="868680" cy="502920"/>
          </a:xfrm>
          <a:prstGeom prst="can">
            <a:avLst/>
          </a:prstGeom>
          <a:solidFill>
            <a:srgbClr val="FFFFFF"/>
          </a:solidFill>
          <a:ln w="12700">
            <a:solidFill>
              <a:srgbClr val="3B6BB0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598664" y="413308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</a:t>
            </a:r>
            <a:endParaRPr lang="en-US" sz="850" dirty="0"/>
          </a:p>
        </p:txBody>
      </p:sp>
      <p:sp>
        <p:nvSpPr>
          <p:cNvPr id="54" name="Text 48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55" name="Text 49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crítico de trazabilidad verificable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68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dato (menos de 48 h por etapa)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E3E7E3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087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Captura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(Colaborador)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del contenedor y declara material y tamaño.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pendiente]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9572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CFE6CF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5087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517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Validación en ronda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65176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(Validador)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269748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a la vista cada punto limpio una vez al día.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265176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validado]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9884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2A6340"/>
          </a:solidFill>
          <a:ln w="12700">
            <a:solidFill>
              <a:srgbClr val="3E8E4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508760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5488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Retiro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(Gestor)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retiro; con peso real el dato pasa a verificado.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[Estado: retirado]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601968" y="2743200"/>
            <a:ext cx="146304" cy="274320"/>
          </a:xfrm>
          <a:prstGeom prst="rightArrow">
            <a:avLst/>
          </a:prstGeom>
          <a:solidFill>
            <a:srgbClr val="3E8E4A"/>
          </a:solidFill>
          <a:ln w="12700">
            <a:solidFill>
              <a:srgbClr val="3E8E4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66560" y="1325880"/>
            <a:ext cx="1920240" cy="3108960"/>
          </a:xfrm>
          <a:prstGeom prst="roundRect">
            <a:avLst>
              <a:gd name="adj" fmla="val 3810"/>
            </a:avLst>
          </a:prstGeom>
          <a:solidFill>
            <a:srgbClr val="143622"/>
          </a:solidFill>
          <a:ln w="25400">
            <a:solidFill>
              <a:srgbClr val="C8962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508760"/>
            <a:ext cx="640080" cy="6400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85800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Reporte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2651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(Sistema)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903720" y="29718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de la planta y certificados con código único.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[Salida: evidencia]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0292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RecyTrack · Planta de Viñedos Familia Chadwick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18388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de expansión: hacia la automatización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F1F5F1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280160"/>
            <a:ext cx="640080" cy="640080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858" y="14209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plantas y viñas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plantas en un mismo panel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entre plantas y áreas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calculados en el servidor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E3ECE4"/>
          </a:solidFill>
          <a:ln w="12700">
            <a:solidFill>
              <a:srgbClr val="C9D6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1280160"/>
            <a:ext cx="640080" cy="640080"/>
          </a:xfrm>
          <a:prstGeom prst="ellipse">
            <a:avLst/>
          </a:prstGeom>
          <a:solidFill>
            <a:srgbClr val="DCEFD9"/>
          </a:solidFill>
          <a:ln w="12700">
            <a:solidFill>
              <a:srgbClr val="DCEF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058" y="14209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real y gestores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Balanzas o peso informado por el gestor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útiles para la Ley REP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D25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quien retira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105156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1E4D2F"/>
          </a:solidFill>
          <a:ln w="25400">
            <a:solidFill>
              <a:srgbClr val="C8962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49440" y="1280160"/>
            <a:ext cx="640080" cy="640080"/>
          </a:xfrm>
          <a:prstGeom prst="ellipse">
            <a:avLst/>
          </a:prstGeom>
          <a:solidFill>
            <a:srgbClr val="2A6340"/>
          </a:solidFill>
          <a:ln w="12700">
            <a:solidFill>
              <a:srgbClr val="2A63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258" y="1420978"/>
            <a:ext cx="358445" cy="35844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264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limpios inteligentes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56032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llenado y alertas de punto lleno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automático al depositar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validación manual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502920" y="45262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requiere rediseñar el núcleo: el modelo ya reserva el peso real y la arquitectura admite nuevas plantas.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RecyTrack — Presentación del proyecto</dc:title>
  <dc:subject>PptxGenJS Presentation</dc:subject>
  <dc:creator>PptxGenJS</dc:creator>
  <cp:lastModifiedBy>PptxGenJS</cp:lastModifiedBy>
  <cp:revision>1</cp:revision>
  <dcterms:created xsi:type="dcterms:W3CDTF">2026-09-30T19:08:29Z</dcterms:created>
  <dcterms:modified xsi:type="dcterms:W3CDTF">2026-09-30T19:08:29Z</dcterms:modified>
</cp:coreProperties>
</file>