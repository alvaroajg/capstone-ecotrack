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Buenas [días/tardes]. Somos el equipo de RecyTrack y les presentamos la Fase 2 de nuestro proyecto de título: el paso del diseño al piloto. Vamos a recorrer cuatro partes: cómo trabajamos con Scrum y cómo va el avance, la arquitectura con el modelo 4+1, cómo vamos a medir el piloto en la planta de Viñedos Familia Chadwick, y el aplicativo funcionando.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presentación tiene cuatro partes. Primero, Scrum: cómo trabajamos, con qué artefactos controlamos el avance y en qué sprint vamos. Segundo, el modelo 4+1: esta vez mostramos cada diagrama en su propia lámina, para poder leerlo bien. Tercero, el pilotaje: cómo será en la planta, qué KPIs vamos a medir y cuándo diremos que fue exitoso. Y cuarto, el aplicativo: las tres vistas y una demostración en vivo.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Trabajamos con Scrum adaptado al contexto académico y a la viña. El Product Owner es la contraparte de la viña, del área de Sostenibilidad y Calidad: ella define el detalle de los requerimientos sobre la marcha, y nosotros repriorizamos el backlog. Matías es Scrum Master y los tres desarrollamos; Álvaro y Vicente lideran lo técnico. La cadencia es un sprint 0 de validación en terreno y seis sprints de dos semanas. Cada sprint parte con una planificación, cierra con una revisión del incremento y con una retrospectiva, y los ajustes de proceso quedan registrados. Lo elegimos porque los requisitos no estaban cerrados, porque necesitamos probar con usuarios reales mientras construimos y porque el semestre tiene fechas fijas: cada revisión de sprint coincide con un hito académico.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Estos son los artefactos con los que controlamos el avance; todos están en el repositorio. Product Backlog: 47 historias de usuario y 174 puntos, ordenadas en 8 épicas, cada una ligada a un objetivo específico. Priorizamos con MoSCoW, donde 29 historias son Must, sin ellas no hay piloto, y estimamos con Fibonacci. Sprint Backlog: una hoja por sprint con historias, tareas, responsables y burndown. En GitHub cada issue se divide en casillas y cada casilla es un commit. Retrospectivas: la metodología se revisa en cada una y los ajustes quedan registrados; por ejemplo, ahora cualquier integrante distinto del autor puede aprobar un pull request. Definition of Done: un cambio está terminado solo si pasan las pruebas de la app y de las reglas de seguridad, entra por un pull request aprobado por otro integrante, se fusiona con merge commit, funciona en la versión publicada y la documentación queda al día.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es el estado de los sprints. El sprint 0 fue de validación en terreno. El Sprint 1 cerró con 11 de 11 puntos. El Sprint 2, del 5 al 16 de octubre, comprometió 31 puntos para que el administrador configure la planta completa desde el panel web, y cerró el 16 de octubre. Hoy estamos en el Sprint 3, del 19 al 30 de octubre, donde completamos el panel web y la app del colaborador y del validador. El Sprint 4 cierra lo funcional y deja todo listo para el piloto. Al cierre del Sprint 4 parte el piloto de cuatro semanas, que corre junto a los Sprints 5 y 6: lo que observemos en la planta vuelve al backlog. Las fechas desde el S3 son las planificadas y se ajustan a los plazos que nos pida la viña.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es el mapa del modelo 4+1. Cada vista responde una pregunta distinta para un público distinto. La vista de escenarios, el +1, dice para qué existe el sistema y une a las otras cuatro: la lógica dice qué ofrece, la de desarrollo cómo se organiza el código, la de procesos cómo se comporta en ejecución y la física dónde corre cada pieza. En total son trece diagramas. El número de cada uno, por ejemplo 2a, indica la vista y el orden; lo verán arriba en cada lámina, junto a un pequeño mapa que marca en qué vista estamos.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Partimos por el +1, la vista de escenarios, porque une a las otras cuatro: describe qué hace RecyTrack y para quién. El diagrama general muestra siete casos de uso. Todos los roles comparten el CU-01, acceder al sistema, que se apoya en un proveedor de identidad externo: Google o Microsoft. El colaborador registra su depósito en el punto limpio (CU-02) y consulta su avance, el ranking y su certificado mensual (CU-03). El validador realiza la ronda diaria de validación (CU-04). El administrador de planta administra contenedores, áreas, personas e incentivo (CU-05), registra el retiro y certifica los depósitos (CU-06) y genera el reporte mensual de la planta (CU-07). Los tres roles heredan de Usuario autenticado. En las tres láminas siguientes vemos el detalle de cada rol.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detalle del colaborador, la persona de la planta que recicla. Después de acceder al sistema tiene dos casos de uso. El CU-02, registrar su depósito en el punto limpio: escanea el QR del contenedor, elige el material si el contenedor es mixto, elige la talla de la bolsa y confirma. Y el CU-03, consultar su avance: cuánto ha registrado, cómo va su área en el ranking y su certificado mensual en PDF.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validador tiene un solo caso de uso propio, a propósito: el CU-04, realizar la ronda diaria de validación. Es una persona que ya recorre la planta por su trabajo, con un suplente. No se le interrumpe por cada depósito: pasa una vez al día y revisa cada contenedor, no cada bolsa. Lo marca como conforme, con observación indicando el contaminante, o sin material. Mantener su rol así de acotado es lo que hace que la validación sea sostenible en la planta.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administrador de planta es quien más casos de uso concentra, y lo hace desde el panel web. CU-05: administra contenedores, áreas, personas e incentivo; por ejemplo, crea los contenedores e imprime sus QR y nombra al validador y su suplente. CU-06: registra el retiro cuando el material sale de la planta y, con eso, certifica los depósitos validados; aquí el administrador cumple el rol que en otros contextos tendría un gestor. CU-07: genera el reporte mensual de la planta en PDF.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vista lógica responde qué ofrece el sistema desde la funcionalidad que ve el usuario. Su diagrama principal es el de clases del dominio. Al centro está la Planta: se organiza en áreas, dispone de contenedores, tiene una campaña con su incentivo y en ella trabajan los usuarios. Un código confidencial protege el rol de administrador. El Registro es el depósito: guarda material, talla de bolsa, kilos declarados y su estado. Su máquina de estados la imponen las reglas de Firestore: pendiente pasa a validado o rechazado, y validado pasa a certificado cuando se registra el retiro. El Retiro certifica los registros y atiende las incidencias de contaminación. El certificado mensual del colaborador se calcula en el cliente; no se guarda en la base de datos.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diagrama de secuencia muestra las clases del dominio en movimiento cuando un colaborador registra un depósito. Se lee de arriba hacia abajo: cada columna es un participante y cada flecha un mensaje. El colaborador escanea el QR del contenedor y elige la talla de la bolsa; la app estima los kilos según esa talla y arma el registro en estado pendiente, junto con la suma al resumen mensual del área. Todo eso se envía a Firestore como un solo lote, que se evalúa contra las reglas de seguridad: se escribe completo o no se escribe nada.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segunda secuencia es el registro del retiro, que cierra la cadena. Cuando el material sale de la planta, el administrador lo registra en el panel web: la fecha, quién retira, el número de guía, los puntos limpios retirados y el peso si se lo informan. El sistema crea el Retiro, pasa los registros validados a certificado y da por atendidas las incidencias de contaminación. Si el retiro trae peso, figura como verificado; si no, se mantiene la masa estimada. Con eso se habilita el certificado mensual de cada colaborador.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diagrama de comunicación muestra los mismos objetos, pero ordenados por cómo se conectan y no por tiempo; los números de cada mensaje indican el orden. Es el momento en que el validador, en su ronda diaria, marca un contenedor: conforme, con observación indicando el contaminante, o sin material. Esa decisión se aplica a todos los depósitos pendientes de ese contenedor, que pasan a validados o rechazados, y si hay observación queda registrada una incidencia sobre el contenedor, no sobre la persona.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vista de desarrollo muestra cómo está organizado el código, pensando en quienes lo programan y lo mantienen. Este es el diagrama de componentes, en UML 2.5. Tiene dos subsistemas. A la izquierda, la App RecyTrack, una PWA hecha con Expo y React Native. Su capa de presentación agrupa la vista del colaborador, la del validador, el panel del administrador y los componentes compartidos, como el escáner QR. Debajo, EstadoRecyTrack es la fachada de la aplicación; se apoya en LogicaPura, que contiene las reglas de negocio, y en ServiciosDatos, que es lo único que habla con Firebase. El GeneradorPDF arma el certificado y el reporte, y todos comparten el ModeloDominio. A la derecha está Firebase en el plan Spark: Authentication, que delega en Google Identity y Microsoft Entra ID, y Cloud Firestore, cuyas once colecciones están protegidas por las reglas de seguridad.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diagrama de paquetes muestra la misma aplicación ordenada en capas, que es la arquitectura de tres capas que definimos. Presentación: las vistas del colaborador, del validador y el panel del administrador, más los componentes compartidos como el escáner QR. Negocio: la fachada EstadoRecyTrack y LogicaPura con las reglas. Datos: ServiciosDatos, el único paquete que habla con Firebase. Al costado, un bloque transversal con seguridad, el modelo de dominio, utilidades, pruebas y despliegue. La regla es que cada capa solo depende de la de abajo; eso nos permite probar la lógica sin tocar la base de datos.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vista de procesos muestra cómo se comporta el sistema en ejecución: quién hace qué, en qué orden y qué pasa cuando algo falla. El primer diagrama de actividad es el depósito. El colaborador lleva sus reciclables al punto limpio y escanea el QR del contenedor; si el código no se lee, puede escribir el código impreso bajo el QR. Luego vacía el material, elige el material si el contenedor es mixto, elige la talla de bolsa y confirma. El sistema estima los kilos según la talla, crea el registro pendiente, suma al área en el resumen del mes y marca la participación. Todo eso se evalúa contra las reglas de Firestore como un solo lote: se escribe completo o no se escribe nada.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segundo diagrama de actividad encadena la ronda diaria y el retiro. El validador revisa contenedor por contenedor, no depósito por depósito, y marca cada uno como conforme, con observación indicando el contaminante, o rechazado por no tener material. Cuando el material sale de la planta, el administrador registra el retiro en el panel web; el sistema crea el retiro, certifica los depósitos validados y da por atendidas las incidencias. Al final se avisa a cada colaborador y se habilita su certificado mensual en PDF.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vista física muestra dónde corre cada pieza, pensando en quien instala y opera el sistema. A la izquierda está la planta: cada punto limpio tiene sus contenedores y una etiqueta QR que imprime el administrador. El colaborador y el validador usan RecyTrack como PWA en el navegador de su celular; el administrador trabaja desde el navegador de su computador con el panel web. Todo viaja por internet con HTTPS hacia un proyecto de Firebase en el plan Spark: Hosting entrega la aplicación, Authentication maneja las sesiones con Google y Microsoft, y Cloud Firestore guarda las once colecciones en la región southamerica-east1. No hay servidores propios ni Cloud Functions, así que el costo de infraestructura es cero, y cada lectura o escritura se evalúa contra las reglas de seguridad antes de tocar la base de datos. El equipo publica con Firebase CLI.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piloto se realiza en la planta de Viñedos Familia Chadwick, bajo la tutela de Andrea Cardenas, Subgerenta de Sostenibilidad y Aseguramiento de Calidad. El alcance es el reciclaje de uso diario de los colaboradores: la basura industrial no se toca. Participan al menos 8 colaboradores de al menos 2 áreas, un validador con su suplente, que ya recorre la planta por su trabajo, y un administrador de la viña que usa el panel web. La operación dura cuatro semanas, desde el cierre del Sprint 4, y corre en paralelo a los Sprints 5 y 6. Lo que se necesita es poco: los QR impresos pegados en cada contenedor, el celular de cada persona y un navegador para el panel. No hay balanzas ni sensores, y la infraestructura cuesta cero porque usamos el plan gratuito de Firebase.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Esta es la ruta del piloto, unas ocho semanas en total. Uno: la aprobación de la viña con la gerencia y la fecha de inicio; la viña nos entrega las áreas, los puntos limpios, el administrador, el validador y quién retira. Dos: preparamos la plataforma, borrando los datos de prueba y creando la cuenta del administrador. Tres: configuramos la planta, con áreas, contenedores y campaña, imprimimos y pegamos los QR y la viña nombra al validador y su suplente. Cuatro y cinco: el lanzamiento, con una charla breve por área, y cuatro semanas de operación diaria con seguimiento semanal; a las dos semanas revisamos la participación y ajustamos. Seis: el cierre, donde se descargan el reporte mensual y los certificados, medimos los KPIs y decidimos con la viña si continuar, ajustar o ampliar. Los plazos los define la viña; nosotros nos adaptamos.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Estos son los seis KPIs con los que vamos a evaluar el piloto y, a la derecha, cómo decidimos si funcionó. Cada KPI tiene un mínimo, lo exigible, y una meta, lo ideal. Los números son conservadores a propósito: es un piloto de cuatro semanas con personas que tienen otras tareas. K1, adopción: al menos 8 personas de 2 áreas registran un depósito en la primera semana; la meta es 12 en 3 áreas. K2, participación, primer KPI crítico: inscritos con al menos un depósito validado en el mes. Mínimo 50 %, meta 60 %. Como referencia, en un estudio de 600 edificios y condominios solo el 55 % de las personas usaba los contenedores disponibles. K3, rondas diarias, segundo crítico: de unos 20 días hábiles, mínimo 12 rondas (60 %) y meta 14 (70 %). Por eso el validador tiene suplente. K4, validación a tiempo: depósitos validados dentro de 24 horas hábiles, mínimo 70 % y meta 85 %. La certificación depende del retiro semanal, por eso medimos la cadena en dos tramos: validación aquí y retiro en K5. K5, cierre de la cadena: el administrador registra cada retiro semanal en el panel sin ayuda del equipo; mínimo 3 de 4 semanas, meta las 4. K6, usabilidad: escala SUS al cierre; 68 es el promedio de referencia de la escala y es nuestra meta; el mínimo es 60. La tasa de éxito es cuántos KPIs alcanzan su mínimo, dividido por seis. Con 5 o 6, 83 % o más, e incluidos los dos críticos, el piloto es exitoso y proponemos continuar y ampliar a más áreas. Con 3 o 4, entre 50 y 67 %, es parcial: ajustamos con la viña y volvemos a medir. Con 2 o menos no fue exitoso y volvemos al backlog a replantear el flujo. Usamos el mínimo y no la meta porque la meta es lo ideal; aun en el peor caso, el piloto nos deja datos reales para ajustar junto con la viña.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Ya vimos cómo trabajamos, la arquitectura, cómo mediremos el piloto y las pantallas de cada rol. Ahora, veámoslo funcionando. [Abrir la app en el teléfono y el panel en el navegador. Recorrido sugerido: 1) el colaborador escanea un QR y registra un depósito; 2) el validador hace la ronda y marca el contenedor; 3) el administrador registra el retiro en el panel y se ve cómo cambia el Resumen.]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Para cerrar, lo que viene. Uno: cerrar los Sprints 3 y 4, con la funcionalidad completa y la plataforma lista para la planta. Dos: formalizar el piloto con la gerencia de Viñedos Familia Chadwick y fijar la fecha de inicio, adaptándonos a sus plazos. Tres: pilotear cuatro semanas con colaboradores reales y medir los seis KPIs; con eso calculamos la tasa de éxito y decidimos junto con la viña si continuar, ajustar o ampliar. Muchas gracias. Quedamos atentos a sus preguntas.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0F17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609599" y="1092101"/>
            <a:ext cx="4083217" cy="4800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200" dirty="0">
                <a:solidFill>
                  <a:srgbClr val="F3EEE3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2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609599" y="1876943"/>
            <a:ext cx="10769601" cy="41682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F3EEE3"/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609599" y="1092101"/>
            <a:ext cx="4083217" cy="4800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200" dirty="0">
                <a:solidFill>
                  <a:srgbClr val="F3EEE3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2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609599" y="1876943"/>
            <a:ext cx="10769601" cy="41682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F3EEE3"/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 de RecyTrack: flechas de reciclaje alrededor de una hoja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12774" y="2076389"/>
            <a:ext cx="660392" cy="660392"/>
          </a:xfrm>
          <a:prstGeom prst="rect">
            <a:avLst/>
          </a:prstGeom>
        </p:spPr>
      </p:pic>
      <p:sp>
        <p:nvSpPr>
          <p:cNvPr id="3" name="Text 0"/>
          <p:cNvSpPr/>
          <p:nvPr>
            <p:ph type="title"/>
          </p:nvPr>
        </p:nvSpPr>
        <p:spPr>
          <a:xfrm>
            <a:off x="812774" y="2965390"/>
            <a:ext cx="5500519" cy="9398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7200"/>
              </a:lnSpc>
              <a:buNone/>
            </a:pPr>
            <a:r>
              <a:rPr lang="en-US" sz="7200" b="1" i="0" spc="-200" kern="0" dirty="0">
                <a:solidFill>
                  <a:srgbClr val="F4F8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Recy</a:t>
            </a:r>
            <a:r>
              <a:rPr lang="en-US" sz="7200" b="1" i="0" spc="-200" kern="0" dirty="0">
                <a:solidFill>
                  <a:srgbClr val="A6E2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</a:t>
            </a:r>
            <a:endParaRPr lang="en-US" sz="7200" dirty="0"/>
          </a:p>
        </p:txBody>
      </p:sp>
      <p:sp>
        <p:nvSpPr>
          <p:cNvPr id="4" name="Text 1"/>
          <p:cNvSpPr/>
          <p:nvPr/>
        </p:nvSpPr>
        <p:spPr>
          <a:xfrm>
            <a:off x="812774" y="4108433"/>
            <a:ext cx="5500519" cy="7239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F4F8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Reciclaje que se ve, se mide y se reconoce.
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815949" y="5038722"/>
            <a:ext cx="1435079" cy="317832"/>
          </a:xfrm>
          <a:prstGeom prst="roundRect">
            <a:avLst>
              <a:gd name="adj" fmla="val 50000"/>
            </a:avLst>
          </a:prstGeom>
          <a:noFill/>
          <a:ln w="6350">
            <a:solidFill>
              <a:srgbClr val="2E5A40"/>
            </a:solidFill>
            <a:prstDash val="solid"/>
          </a:ln>
        </p:spPr>
        <p:txBody>
          <a:bodyPr wrap="square" lIns="81917" tIns="5717" rIns="31117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3D6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 en el celular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2358966" y="5038722"/>
            <a:ext cx="971486" cy="317832"/>
          </a:xfrm>
          <a:prstGeom prst="roundRect">
            <a:avLst>
              <a:gd name="adj" fmla="val 50000"/>
            </a:avLst>
          </a:prstGeom>
          <a:noFill/>
          <a:ln w="6350">
            <a:solidFill>
              <a:srgbClr val="2E5A40"/>
            </a:solidFill>
            <a:prstDash val="solid"/>
          </a:ln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3D6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Panel web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3432158" y="5038722"/>
            <a:ext cx="1625574" cy="317832"/>
          </a:xfrm>
          <a:prstGeom prst="roundRect">
            <a:avLst>
              <a:gd name="adj" fmla="val 50000"/>
            </a:avLst>
          </a:prstGeom>
          <a:noFill/>
          <a:ln w="6350">
            <a:solidFill>
              <a:srgbClr val="2E5A40"/>
            </a:solidFill>
            <a:prstDash val="solid"/>
          </a:ln>
        </p:spPr>
        <p:txBody>
          <a:bodyPr wrap="square" lIns="81917" tIns="5717" rIns="31117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3D6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 equipos nuevos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997668" y="1396940"/>
            <a:ext cx="3936994" cy="3936994"/>
          </a:xfrm>
          <a:prstGeom prst="roundRect">
            <a:avLst>
              <a:gd name="adj" fmla="val 41290"/>
            </a:avLst>
          </a:prstGeom>
          <a:gradFill rotWithShape="1">
            <a:gsLst>
              <a:gs pos="0">
                <a:srgbClr val="22583A"/>
              </a:gs>
              <a:gs pos="70000">
                <a:srgbClr val="163B27"/>
              </a:gs>
            </a:gsLst>
            <a:path path="circle">
              <a:fillToRect l="50000" t="50000" r="50000" b="50000"/>
            </a:path>
          </a:gradFill>
          <a:ln/>
        </p:spPr>
      </p:sp>
      <p:sp>
        <p:nvSpPr>
          <p:cNvPr id="9" name="Shape 6"/>
          <p:cNvSpPr/>
          <p:nvPr/>
        </p:nvSpPr>
        <p:spPr>
          <a:xfrm>
            <a:off x="6553131" y="2095446"/>
            <a:ext cx="3809973" cy="2412961"/>
          </a:xfrm>
          <a:prstGeom prst="roundRect">
            <a:avLst>
              <a:gd name="adj" fmla="val 5263"/>
            </a:avLst>
          </a:prstGeom>
          <a:solidFill>
            <a:srgbClr val="F4F8F1"/>
          </a:solidFill>
          <a:ln/>
          <a:effectLst>
            <a:outerShdw sx="100000" sy="100000" kx="0" ky="0" algn="bl" rotWithShape="0" blurRad="381000" dist="190500" dir="5400000">
              <a:srgbClr val="040E08">
                <a:alpha val="4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553131" y="2095446"/>
            <a:ext cx="3809973" cy="228464"/>
          </a:xfrm>
          <a:custGeom>
            <a:avLst/>
            <a:gdLst/>
            <a:ahLst/>
            <a:cxnLst/>
            <a:rect l="l" t="t" r="r" b="b"/>
            <a:pathLst>
              <a:path w="3809973" h="228464">
                <a:moveTo>
                  <a:pt x="0" y="127000"/>
                </a:moveTo>
                <a:arcTo hR="127000" wR="127000" stAng="10800000" swAng="5400000"/>
                <a:lnTo>
                  <a:pt x="3682973" y="0"/>
                </a:lnTo>
                <a:arcTo hR="127000" wR="127000" stAng="16200000" swAng="5400000"/>
                <a:lnTo>
                  <a:pt x="3809973" y="228464"/>
                </a:lnTo>
                <a:lnTo>
                  <a:pt x="0" y="228464"/>
                </a:lnTo>
                <a:close/>
              </a:path>
            </a:pathLst>
          </a:custGeom>
          <a:solidFill>
            <a:srgbClr val="DDE8D8"/>
          </a:solidFill>
          <a:ln/>
        </p:spPr>
      </p:sp>
      <p:sp>
        <p:nvSpPr>
          <p:cNvPr id="11" name="Shape 8"/>
          <p:cNvSpPr/>
          <p:nvPr/>
        </p:nvSpPr>
        <p:spPr>
          <a:xfrm>
            <a:off x="6654719" y="2171600"/>
            <a:ext cx="76155" cy="76155"/>
          </a:xfrm>
          <a:prstGeom prst="roundRect">
            <a:avLst>
              <a:gd name="adj" fmla="val 50000"/>
            </a:avLst>
          </a:prstGeom>
          <a:solidFill>
            <a:srgbClr val="E9A198"/>
          </a:solidFill>
          <a:ln/>
        </p:spPr>
      </p:sp>
      <p:sp>
        <p:nvSpPr>
          <p:cNvPr id="12" name="Shape 9"/>
          <p:cNvSpPr/>
          <p:nvPr/>
        </p:nvSpPr>
        <p:spPr>
          <a:xfrm>
            <a:off x="6781667" y="2171600"/>
            <a:ext cx="76155" cy="76155"/>
          </a:xfrm>
          <a:prstGeom prst="roundRect">
            <a:avLst>
              <a:gd name="adj" fmla="val 50000"/>
            </a:avLst>
          </a:prstGeom>
          <a:solidFill>
            <a:srgbClr val="E8C872"/>
          </a:solidFill>
          <a:ln/>
        </p:spPr>
      </p:sp>
      <p:sp>
        <p:nvSpPr>
          <p:cNvPr id="13" name="Shape 10"/>
          <p:cNvSpPr/>
          <p:nvPr/>
        </p:nvSpPr>
        <p:spPr>
          <a:xfrm>
            <a:off x="6908616" y="2171600"/>
            <a:ext cx="76155" cy="76155"/>
          </a:xfrm>
          <a:prstGeom prst="roundRect">
            <a:avLst>
              <a:gd name="adj" fmla="val 50000"/>
            </a:avLst>
          </a:prstGeom>
          <a:solidFill>
            <a:srgbClr val="8FCB66"/>
          </a:solidFill>
          <a:ln/>
        </p:spPr>
      </p:sp>
      <p:sp>
        <p:nvSpPr>
          <p:cNvPr id="14" name="Shape 11"/>
          <p:cNvSpPr/>
          <p:nvPr/>
        </p:nvSpPr>
        <p:spPr>
          <a:xfrm>
            <a:off x="6553131" y="2323909"/>
            <a:ext cx="698434" cy="2184498"/>
          </a:xfrm>
          <a:custGeom>
            <a:avLst/>
            <a:gdLst/>
            <a:ahLst/>
            <a:cxnLst/>
            <a:rect l="l" t="t" r="r" b="b"/>
            <a:pathLst>
              <a:path w="698434" h="2184498">
                <a:moveTo>
                  <a:pt x="127000" y="2184498"/>
                </a:moveTo>
                <a:arcTo hR="127000" wR="127000" stAng="5400000" swAng="5400000"/>
                <a:lnTo>
                  <a:pt x="0" y="0"/>
                </a:lnTo>
                <a:lnTo>
                  <a:pt x="698434" y="0"/>
                </a:lnTo>
                <a:lnTo>
                  <a:pt x="698434" y="2184498"/>
                </a:lnTo>
                <a:close/>
              </a:path>
            </a:pathLst>
          </a:custGeom>
          <a:solidFill>
            <a:srgbClr val="10291C"/>
          </a:solidFill>
          <a:ln/>
        </p:spPr>
      </p:sp>
      <p:sp>
        <p:nvSpPr>
          <p:cNvPr id="15" name="Shape 12"/>
          <p:cNvSpPr/>
          <p:nvPr/>
        </p:nvSpPr>
        <p:spPr>
          <a:xfrm>
            <a:off x="6641966" y="2450858"/>
            <a:ext cx="520764" cy="88835"/>
          </a:xfrm>
          <a:prstGeom prst="roundRect">
            <a:avLst>
              <a:gd name="adj" fmla="val 50000"/>
            </a:avLst>
          </a:prstGeom>
          <a:solidFill>
            <a:srgbClr val="1B7F45"/>
          </a:solidFill>
          <a:ln/>
        </p:spPr>
      </p:sp>
      <p:sp>
        <p:nvSpPr>
          <p:cNvPr id="16" name="Shape 13"/>
          <p:cNvSpPr/>
          <p:nvPr/>
        </p:nvSpPr>
        <p:spPr>
          <a:xfrm>
            <a:off x="6641966" y="2615847"/>
            <a:ext cx="520764" cy="88835"/>
          </a:xfrm>
          <a:prstGeom prst="roundRect">
            <a:avLst>
              <a:gd name="adj" fmla="val 50000"/>
            </a:avLst>
          </a:prstGeom>
          <a:solidFill>
            <a:srgbClr val="2E5A40"/>
          </a:solidFill>
          <a:ln/>
        </p:spPr>
      </p:sp>
      <p:sp>
        <p:nvSpPr>
          <p:cNvPr id="17" name="Shape 14"/>
          <p:cNvSpPr/>
          <p:nvPr/>
        </p:nvSpPr>
        <p:spPr>
          <a:xfrm>
            <a:off x="6641966" y="2780836"/>
            <a:ext cx="520764" cy="88835"/>
          </a:xfrm>
          <a:prstGeom prst="roundRect">
            <a:avLst>
              <a:gd name="adj" fmla="val 50000"/>
            </a:avLst>
          </a:prstGeom>
          <a:solidFill>
            <a:srgbClr val="2E5A40"/>
          </a:solidFill>
          <a:ln/>
        </p:spPr>
      </p:sp>
      <p:sp>
        <p:nvSpPr>
          <p:cNvPr id="18" name="Shape 15"/>
          <p:cNvSpPr/>
          <p:nvPr/>
        </p:nvSpPr>
        <p:spPr>
          <a:xfrm>
            <a:off x="6641966" y="2945826"/>
            <a:ext cx="520764" cy="88835"/>
          </a:xfrm>
          <a:prstGeom prst="roundRect">
            <a:avLst>
              <a:gd name="adj" fmla="val 50000"/>
            </a:avLst>
          </a:prstGeom>
          <a:solidFill>
            <a:srgbClr val="2E5A40"/>
          </a:solidFill>
          <a:ln/>
        </p:spPr>
      </p:sp>
      <p:sp>
        <p:nvSpPr>
          <p:cNvPr id="19" name="Shape 16"/>
          <p:cNvSpPr/>
          <p:nvPr/>
        </p:nvSpPr>
        <p:spPr>
          <a:xfrm>
            <a:off x="6641966" y="3110815"/>
            <a:ext cx="520764" cy="88835"/>
          </a:xfrm>
          <a:prstGeom prst="roundRect">
            <a:avLst>
              <a:gd name="adj" fmla="val 50000"/>
            </a:avLst>
          </a:prstGeom>
          <a:solidFill>
            <a:srgbClr val="2E5A40"/>
          </a:solidFill>
          <a:ln/>
        </p:spPr>
      </p:sp>
      <p:sp>
        <p:nvSpPr>
          <p:cNvPr id="20" name="Shape 17"/>
          <p:cNvSpPr/>
          <p:nvPr/>
        </p:nvSpPr>
        <p:spPr>
          <a:xfrm>
            <a:off x="7381688" y="2454033"/>
            <a:ext cx="895404" cy="409131"/>
          </a:xfrm>
          <a:prstGeom prst="roundRect">
            <a:avLst>
              <a:gd name="adj" fmla="val 17849"/>
            </a:avLst>
          </a:prstGeom>
          <a:solidFill>
            <a:srgbClr val="FCFDFA"/>
          </a:solidFill>
          <a:ln w="6350">
            <a:solidFill>
              <a:srgbClr val="DCE6D8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7459305" y="2531650"/>
            <a:ext cx="380990" cy="63474"/>
          </a:xfrm>
          <a:prstGeom prst="roundRect">
            <a:avLst>
              <a:gd name="adj" fmla="val 50000"/>
            </a:avLst>
          </a:prstGeom>
          <a:solidFill>
            <a:srgbClr val="C9D8C6"/>
          </a:solidFill>
          <a:ln/>
        </p:spPr>
      </p:sp>
      <p:sp>
        <p:nvSpPr>
          <p:cNvPr id="22" name="Shape 19"/>
          <p:cNvSpPr/>
          <p:nvPr/>
        </p:nvSpPr>
        <p:spPr>
          <a:xfrm>
            <a:off x="7459305" y="2645918"/>
            <a:ext cx="571485" cy="139629"/>
          </a:xfrm>
          <a:prstGeom prst="roundRect">
            <a:avLst>
              <a:gd name="adj" fmla="val 27287"/>
            </a:avLst>
          </a:prstGeom>
          <a:solidFill>
            <a:srgbClr val="1B7F45"/>
          </a:solidFill>
          <a:ln/>
        </p:spPr>
      </p:sp>
      <p:sp>
        <p:nvSpPr>
          <p:cNvPr id="23" name="Shape 20"/>
          <p:cNvSpPr/>
          <p:nvPr/>
        </p:nvSpPr>
        <p:spPr>
          <a:xfrm>
            <a:off x="8359597" y="2454033"/>
            <a:ext cx="895476" cy="409131"/>
          </a:xfrm>
          <a:prstGeom prst="roundRect">
            <a:avLst>
              <a:gd name="adj" fmla="val 17849"/>
            </a:avLst>
          </a:prstGeom>
          <a:solidFill>
            <a:srgbClr val="FCFDFA"/>
          </a:solidFill>
          <a:ln w="6350">
            <a:solidFill>
              <a:srgbClr val="DCE6D8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8437214" y="2531650"/>
            <a:ext cx="380990" cy="63474"/>
          </a:xfrm>
          <a:prstGeom prst="roundRect">
            <a:avLst>
              <a:gd name="adj" fmla="val 50000"/>
            </a:avLst>
          </a:prstGeom>
          <a:solidFill>
            <a:srgbClr val="C9D8C6"/>
          </a:solidFill>
          <a:ln/>
        </p:spPr>
      </p:sp>
      <p:sp>
        <p:nvSpPr>
          <p:cNvPr id="25" name="Shape 22"/>
          <p:cNvSpPr/>
          <p:nvPr/>
        </p:nvSpPr>
        <p:spPr>
          <a:xfrm>
            <a:off x="8437214" y="2645918"/>
            <a:ext cx="444464" cy="139629"/>
          </a:xfrm>
          <a:prstGeom prst="roundRect">
            <a:avLst>
              <a:gd name="adj" fmla="val 27287"/>
            </a:avLst>
          </a:prstGeom>
          <a:solidFill>
            <a:srgbClr val="10291C"/>
          </a:solidFill>
          <a:ln/>
        </p:spPr>
      </p:sp>
      <p:sp>
        <p:nvSpPr>
          <p:cNvPr id="26" name="Shape 23"/>
          <p:cNvSpPr/>
          <p:nvPr/>
        </p:nvSpPr>
        <p:spPr>
          <a:xfrm>
            <a:off x="9337577" y="2454033"/>
            <a:ext cx="895404" cy="409131"/>
          </a:xfrm>
          <a:prstGeom prst="roundRect">
            <a:avLst>
              <a:gd name="adj" fmla="val 17849"/>
            </a:avLst>
          </a:prstGeom>
          <a:solidFill>
            <a:srgbClr val="FCFDFA"/>
          </a:solidFill>
          <a:ln w="6350">
            <a:solidFill>
              <a:srgbClr val="DCE6D8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9415194" y="2531650"/>
            <a:ext cx="380990" cy="63474"/>
          </a:xfrm>
          <a:prstGeom prst="roundRect">
            <a:avLst>
              <a:gd name="adj" fmla="val 50000"/>
            </a:avLst>
          </a:prstGeom>
          <a:solidFill>
            <a:srgbClr val="C9D8C6"/>
          </a:solidFill>
          <a:ln/>
        </p:spPr>
      </p:sp>
      <p:sp>
        <p:nvSpPr>
          <p:cNvPr id="28" name="Shape 25"/>
          <p:cNvSpPr/>
          <p:nvPr/>
        </p:nvSpPr>
        <p:spPr>
          <a:xfrm>
            <a:off x="9415194" y="2645918"/>
            <a:ext cx="507938" cy="139629"/>
          </a:xfrm>
          <a:prstGeom prst="roundRect">
            <a:avLst>
              <a:gd name="adj" fmla="val 27287"/>
            </a:avLst>
          </a:prstGeom>
          <a:solidFill>
            <a:srgbClr val="10291C"/>
          </a:solidFill>
          <a:ln/>
        </p:spPr>
      </p:sp>
      <p:sp>
        <p:nvSpPr>
          <p:cNvPr id="29" name="Shape 26"/>
          <p:cNvSpPr/>
          <p:nvPr/>
        </p:nvSpPr>
        <p:spPr>
          <a:xfrm>
            <a:off x="7381688" y="2971101"/>
            <a:ext cx="2851293" cy="1407183"/>
          </a:xfrm>
          <a:prstGeom prst="roundRect">
            <a:avLst>
              <a:gd name="adj" fmla="val 5189"/>
            </a:avLst>
          </a:prstGeom>
          <a:solidFill>
            <a:srgbClr val="FCFDFA"/>
          </a:solidFill>
          <a:ln w="6350">
            <a:solidFill>
              <a:srgbClr val="DCE6D8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7484738" y="3830769"/>
            <a:ext cx="366788" cy="444464"/>
          </a:xfrm>
          <a:custGeom>
            <a:avLst/>
            <a:gdLst/>
            <a:ahLst/>
            <a:cxnLst/>
            <a:rect l="l" t="t" r="r" b="b"/>
            <a:pathLst>
              <a:path w="366788" h="444464">
                <a:moveTo>
                  <a:pt x="38100" y="0"/>
                </a:moveTo>
                <a:lnTo>
                  <a:pt x="328688" y="0"/>
                </a:lnTo>
                <a:arcTo hR="38100" wR="38100" stAng="16200000" swAng="5400000"/>
                <a:lnTo>
                  <a:pt x="366788" y="444464"/>
                </a:lnTo>
                <a:lnTo>
                  <a:pt x="0" y="444464"/>
                </a:lnTo>
                <a:lnTo>
                  <a:pt x="0" y="38100"/>
                </a:lnTo>
                <a:arcTo hR="38100" wR="38100" stAng="10800000" swAng="5400000"/>
                <a:close/>
              </a:path>
            </a:pathLst>
          </a:custGeom>
          <a:solidFill>
            <a:srgbClr val="1B7F45"/>
          </a:solidFill>
          <a:ln/>
        </p:spPr>
      </p:sp>
      <p:sp>
        <p:nvSpPr>
          <p:cNvPr id="31" name="Shape 28"/>
          <p:cNvSpPr/>
          <p:nvPr/>
        </p:nvSpPr>
        <p:spPr>
          <a:xfrm>
            <a:off x="7940361" y="3513253"/>
            <a:ext cx="366861" cy="761980"/>
          </a:xfrm>
          <a:custGeom>
            <a:avLst/>
            <a:gdLst/>
            <a:ahLst/>
            <a:cxnLst/>
            <a:rect l="l" t="t" r="r" b="b"/>
            <a:pathLst>
              <a:path w="366861" h="761980">
                <a:moveTo>
                  <a:pt x="38100" y="0"/>
                </a:moveTo>
                <a:lnTo>
                  <a:pt x="328761" y="0"/>
                </a:lnTo>
                <a:arcTo hR="38100" wR="38100" stAng="16200000" swAng="5400000"/>
                <a:lnTo>
                  <a:pt x="366861" y="761980"/>
                </a:lnTo>
                <a:lnTo>
                  <a:pt x="0" y="761980"/>
                </a:lnTo>
                <a:lnTo>
                  <a:pt x="0" y="38100"/>
                </a:lnTo>
                <a:arcTo hR="38100" wR="38100" stAng="10800000" swAng="5400000"/>
                <a:close/>
              </a:path>
            </a:pathLst>
          </a:custGeom>
          <a:solidFill>
            <a:srgbClr val="1B7F45"/>
          </a:solidFill>
          <a:ln/>
        </p:spPr>
      </p:sp>
      <p:sp>
        <p:nvSpPr>
          <p:cNvPr id="32" name="Shape 29"/>
          <p:cNvSpPr/>
          <p:nvPr/>
        </p:nvSpPr>
        <p:spPr>
          <a:xfrm>
            <a:off x="8396057" y="3672011"/>
            <a:ext cx="366788" cy="603222"/>
          </a:xfrm>
          <a:custGeom>
            <a:avLst/>
            <a:gdLst/>
            <a:ahLst/>
            <a:cxnLst/>
            <a:rect l="l" t="t" r="r" b="b"/>
            <a:pathLst>
              <a:path w="366788" h="603222">
                <a:moveTo>
                  <a:pt x="38100" y="0"/>
                </a:moveTo>
                <a:lnTo>
                  <a:pt x="328688" y="0"/>
                </a:lnTo>
                <a:arcTo hR="38100" wR="38100" stAng="16200000" swAng="5400000"/>
                <a:lnTo>
                  <a:pt x="366788" y="603222"/>
                </a:lnTo>
                <a:lnTo>
                  <a:pt x="0" y="603222"/>
                </a:lnTo>
                <a:lnTo>
                  <a:pt x="0" y="38100"/>
                </a:lnTo>
                <a:arcTo hR="38100" wR="38100" stAng="10800000" swAng="5400000"/>
                <a:close/>
              </a:path>
            </a:pathLst>
          </a:custGeom>
          <a:solidFill>
            <a:srgbClr val="1B7F45"/>
          </a:solidFill>
          <a:ln/>
        </p:spPr>
      </p:sp>
      <p:sp>
        <p:nvSpPr>
          <p:cNvPr id="33" name="Shape 30"/>
          <p:cNvSpPr/>
          <p:nvPr/>
        </p:nvSpPr>
        <p:spPr>
          <a:xfrm>
            <a:off x="8851680" y="3322758"/>
            <a:ext cx="366861" cy="952475"/>
          </a:xfrm>
          <a:custGeom>
            <a:avLst/>
            <a:gdLst/>
            <a:ahLst/>
            <a:cxnLst/>
            <a:rect l="l" t="t" r="r" b="b"/>
            <a:pathLst>
              <a:path w="366861" h="952475">
                <a:moveTo>
                  <a:pt x="38100" y="0"/>
                </a:moveTo>
                <a:lnTo>
                  <a:pt x="328761" y="0"/>
                </a:lnTo>
                <a:arcTo hR="38100" wR="38100" stAng="16200000" swAng="5400000"/>
                <a:lnTo>
                  <a:pt x="366861" y="952475"/>
                </a:lnTo>
                <a:lnTo>
                  <a:pt x="0" y="952475"/>
                </a:lnTo>
                <a:lnTo>
                  <a:pt x="0" y="38100"/>
                </a:lnTo>
                <a:arcTo hR="38100" wR="38100" stAng="10800000" swAng="5400000"/>
                <a:close/>
              </a:path>
            </a:pathLst>
          </a:custGeom>
          <a:solidFill>
            <a:srgbClr val="1B7F45"/>
          </a:solidFill>
          <a:ln/>
        </p:spPr>
      </p:sp>
      <p:sp>
        <p:nvSpPr>
          <p:cNvPr id="34" name="Shape 31"/>
          <p:cNvSpPr/>
          <p:nvPr/>
        </p:nvSpPr>
        <p:spPr>
          <a:xfrm>
            <a:off x="9307375" y="3576800"/>
            <a:ext cx="366861" cy="698434"/>
          </a:xfrm>
          <a:custGeom>
            <a:avLst/>
            <a:gdLst/>
            <a:ahLst/>
            <a:cxnLst/>
            <a:rect l="l" t="t" r="r" b="b"/>
            <a:pathLst>
              <a:path w="366861" h="698434">
                <a:moveTo>
                  <a:pt x="38100" y="0"/>
                </a:moveTo>
                <a:lnTo>
                  <a:pt x="328761" y="0"/>
                </a:lnTo>
                <a:arcTo hR="38100" wR="38100" stAng="16200000" swAng="5400000"/>
                <a:lnTo>
                  <a:pt x="366861" y="698434"/>
                </a:lnTo>
                <a:lnTo>
                  <a:pt x="0" y="698434"/>
                </a:lnTo>
                <a:lnTo>
                  <a:pt x="0" y="38100"/>
                </a:lnTo>
                <a:arcTo hR="38100" wR="38100" stAng="10800000" swAng="5400000"/>
                <a:close/>
              </a:path>
            </a:pathLst>
          </a:custGeom>
          <a:solidFill>
            <a:srgbClr val="1B7F45"/>
          </a:solidFill>
          <a:ln/>
        </p:spPr>
      </p:sp>
      <p:sp>
        <p:nvSpPr>
          <p:cNvPr id="35" name="Shape 32"/>
          <p:cNvSpPr/>
          <p:nvPr/>
        </p:nvSpPr>
        <p:spPr>
          <a:xfrm>
            <a:off x="9763071" y="3227547"/>
            <a:ext cx="366861" cy="1047687"/>
          </a:xfrm>
          <a:custGeom>
            <a:avLst/>
            <a:gdLst/>
            <a:ahLst/>
            <a:cxnLst/>
            <a:rect l="l" t="t" r="r" b="b"/>
            <a:pathLst>
              <a:path w="366861" h="1047687">
                <a:moveTo>
                  <a:pt x="38100" y="0"/>
                </a:moveTo>
                <a:lnTo>
                  <a:pt x="328761" y="0"/>
                </a:lnTo>
                <a:arcTo hR="38100" wR="38100" stAng="16200000" swAng="5400000"/>
                <a:lnTo>
                  <a:pt x="366861" y="1047687"/>
                </a:lnTo>
                <a:lnTo>
                  <a:pt x="0" y="1047687"/>
                </a:lnTo>
                <a:lnTo>
                  <a:pt x="0" y="38100"/>
                </a:lnTo>
                <a:arcTo hR="38100" wR="38100" stAng="10800000" swAng="5400000"/>
                <a:close/>
              </a:path>
            </a:pathLst>
          </a:custGeom>
          <a:solidFill>
            <a:srgbClr val="A6E27A"/>
          </a:solidFill>
          <a:ln/>
        </p:spPr>
      </p:sp>
      <p:sp>
        <p:nvSpPr>
          <p:cNvPr id="36" name="Shape 33"/>
          <p:cNvSpPr/>
          <p:nvPr/>
        </p:nvSpPr>
        <p:spPr>
          <a:xfrm rot="360000">
            <a:off x="9378881" y="2146237"/>
            <a:ext cx="1911350" cy="3327400"/>
          </a:xfrm>
          <a:prstGeom prst="roundRect">
            <a:avLst>
              <a:gd name="adj" fmla="val 13289"/>
            </a:avLst>
          </a:prstGeom>
          <a:solidFill>
            <a:srgbClr val="0B1F14"/>
          </a:solidFill>
          <a:ln/>
          <a:effectLst>
            <a:outerShdw sx="100000" sy="100000" kx="0" ky="0" algn="bl" rotWithShape="0" blurRad="381000" dist="190500" dir="5400000">
              <a:srgbClr val="040E08">
                <a:alpha val="50000"/>
              </a:srgbClr>
            </a:outerShdw>
          </a:effectLst>
        </p:spPr>
      </p:sp>
      <p:sp>
        <p:nvSpPr>
          <p:cNvPr id="37" name="Shape 34"/>
          <p:cNvSpPr/>
          <p:nvPr/>
        </p:nvSpPr>
        <p:spPr>
          <a:xfrm rot="360000">
            <a:off x="9442380" y="2209737"/>
            <a:ext cx="1784350" cy="3200400"/>
          </a:xfrm>
          <a:prstGeom prst="roundRect">
            <a:avLst>
              <a:gd name="adj" fmla="val 11388"/>
            </a:avLst>
          </a:prstGeom>
          <a:solidFill>
            <a:srgbClr val="F4F8F1"/>
          </a:solidFill>
          <a:ln/>
        </p:spPr>
      </p:sp>
      <p:sp>
        <p:nvSpPr>
          <p:cNvPr id="38" name="Shape 35"/>
          <p:cNvSpPr/>
          <p:nvPr/>
        </p:nvSpPr>
        <p:spPr>
          <a:xfrm rot="360000">
            <a:off x="9694743" y="2304296"/>
            <a:ext cx="571500" cy="88900"/>
          </a:xfrm>
          <a:prstGeom prst="roundRect">
            <a:avLst>
              <a:gd name="adj" fmla="val 50000"/>
            </a:avLst>
          </a:prstGeom>
          <a:solidFill>
            <a:srgbClr val="C9D8C6"/>
          </a:solidFill>
          <a:ln/>
        </p:spPr>
      </p:sp>
      <p:sp>
        <p:nvSpPr>
          <p:cNvPr id="39" name="Shape 36"/>
          <p:cNvSpPr/>
          <p:nvPr/>
        </p:nvSpPr>
        <p:spPr>
          <a:xfrm rot="360000">
            <a:off x="9672940" y="2491460"/>
            <a:ext cx="1016000" cy="152400"/>
          </a:xfrm>
          <a:prstGeom prst="roundRect">
            <a:avLst>
              <a:gd name="adj" fmla="val 33333"/>
            </a:avLst>
          </a:prstGeom>
          <a:solidFill>
            <a:srgbClr val="10291C"/>
          </a:solidFill>
          <a:ln/>
        </p:spPr>
      </p:sp>
      <p:sp>
        <p:nvSpPr>
          <p:cNvPr id="40" name="Shape 37"/>
          <p:cNvSpPr/>
          <p:nvPr/>
        </p:nvSpPr>
        <p:spPr>
          <a:xfrm rot="360000">
            <a:off x="9638301" y="2752241"/>
            <a:ext cx="1574800" cy="381000"/>
          </a:xfrm>
          <a:prstGeom prst="roundRect">
            <a:avLst>
              <a:gd name="adj" fmla="val 22500"/>
            </a:avLst>
          </a:prstGeom>
          <a:solidFill>
            <a:srgbClr val="FCFDFA"/>
          </a:solidFill>
          <a:ln w="6350">
            <a:solidFill>
              <a:srgbClr val="DCE6D8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 rot="360000">
            <a:off x="9706458" y="2753493"/>
            <a:ext cx="254000" cy="254000"/>
          </a:xfrm>
          <a:prstGeom prst="roundRect">
            <a:avLst>
              <a:gd name="adj" fmla="val 20000"/>
            </a:avLst>
          </a:prstGeom>
          <a:solidFill>
            <a:srgbClr val="10291C"/>
          </a:solidFill>
          <a:ln/>
        </p:spPr>
      </p:sp>
      <p:sp>
        <p:nvSpPr>
          <p:cNvPr id="42" name="Shape 39"/>
          <p:cNvSpPr/>
          <p:nvPr/>
        </p:nvSpPr>
        <p:spPr>
          <a:xfrm rot="360000">
            <a:off x="10026944" y="2841402"/>
            <a:ext cx="444500" cy="63500"/>
          </a:xfrm>
          <a:prstGeom prst="roundRect">
            <a:avLst>
              <a:gd name="adj" fmla="val 50000"/>
            </a:avLst>
          </a:prstGeom>
          <a:solidFill>
            <a:srgbClr val="10291C"/>
          </a:solidFill>
          <a:ln/>
        </p:spPr>
      </p:sp>
      <p:sp>
        <p:nvSpPr>
          <p:cNvPr id="43" name="Shape 40"/>
          <p:cNvSpPr/>
          <p:nvPr/>
        </p:nvSpPr>
        <p:spPr>
          <a:xfrm rot="360000">
            <a:off x="10016671" y="2935723"/>
            <a:ext cx="317500" cy="63500"/>
          </a:xfrm>
          <a:prstGeom prst="roundRect">
            <a:avLst>
              <a:gd name="adj" fmla="val 50000"/>
            </a:avLst>
          </a:prstGeom>
          <a:solidFill>
            <a:srgbClr val="C9D8C6"/>
          </a:solidFill>
          <a:ln/>
        </p:spPr>
      </p:sp>
      <p:sp>
        <p:nvSpPr>
          <p:cNvPr id="44" name="Shape 41"/>
          <p:cNvSpPr/>
          <p:nvPr/>
        </p:nvSpPr>
        <p:spPr>
          <a:xfrm rot="360000">
            <a:off x="9599850" y="3218145"/>
            <a:ext cx="1568450" cy="241300"/>
          </a:xfrm>
          <a:prstGeom prst="roundRect">
            <a:avLst>
              <a:gd name="adj" fmla="val 28947"/>
            </a:avLst>
          </a:prstGeom>
          <a:solidFill>
            <a:srgbClr val="FCFDFA"/>
          </a:solidFill>
          <a:ln w="12700">
            <a:solidFill>
              <a:srgbClr val="DCE6D8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 rot="360000">
            <a:off x="9565343" y="3546460"/>
            <a:ext cx="1568450" cy="241300"/>
          </a:xfrm>
          <a:prstGeom prst="roundRect">
            <a:avLst>
              <a:gd name="adj" fmla="val 28947"/>
            </a:avLst>
          </a:prstGeom>
          <a:solidFill>
            <a:srgbClr val="E3F4D3"/>
          </a:solidFill>
          <a:ln w="12700">
            <a:solidFill>
              <a:srgbClr val="1B7F45"/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 rot="360000">
            <a:off x="9530835" y="3874775"/>
            <a:ext cx="1568450" cy="241300"/>
          </a:xfrm>
          <a:prstGeom prst="roundRect">
            <a:avLst>
              <a:gd name="adj" fmla="val 28947"/>
            </a:avLst>
          </a:prstGeom>
          <a:solidFill>
            <a:srgbClr val="FCFDFA"/>
          </a:solidFill>
          <a:ln w="12700">
            <a:solidFill>
              <a:srgbClr val="DCE6D8"/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 rot="360000">
            <a:off x="9489978" y="4196741"/>
            <a:ext cx="1581150" cy="254000"/>
          </a:xfrm>
          <a:prstGeom prst="roundRect">
            <a:avLst>
              <a:gd name="adj" fmla="val 30000"/>
            </a:avLst>
          </a:prstGeom>
          <a:solidFill>
            <a:srgbClr val="1B7F45"/>
          </a:solidFill>
          <a:ln/>
        </p:spPr>
      </p:sp>
      <p:sp>
        <p:nvSpPr>
          <p:cNvPr id="48" name="Shape 45"/>
          <p:cNvSpPr/>
          <p:nvPr/>
        </p:nvSpPr>
        <p:spPr>
          <a:xfrm rot="360000">
            <a:off x="9411875" y="4869996"/>
            <a:ext cx="1581150" cy="393700"/>
          </a:xfrm>
          <a:prstGeom prst="roundRect">
            <a:avLst>
              <a:gd name="adj" fmla="val 22581"/>
            </a:avLst>
          </a:prstGeom>
          <a:solidFill>
            <a:srgbClr val="10291C"/>
          </a:solidFill>
          <a:ln/>
        </p:spPr>
      </p:sp>
      <p:sp>
        <p:nvSpPr>
          <p:cNvPr id="49" name="Shape 46"/>
          <p:cNvSpPr/>
          <p:nvPr/>
        </p:nvSpPr>
        <p:spPr>
          <a:xfrm rot="360000">
            <a:off x="9511069" y="4912515"/>
            <a:ext cx="508000" cy="63500"/>
          </a:xfrm>
          <a:prstGeom prst="roundRect">
            <a:avLst>
              <a:gd name="adj" fmla="val 50000"/>
            </a:avLst>
          </a:prstGeom>
          <a:solidFill>
            <a:srgbClr val="A6E27A"/>
          </a:solidFill>
          <a:ln/>
        </p:spPr>
      </p:sp>
      <p:sp>
        <p:nvSpPr>
          <p:cNvPr id="50" name="Shape 47"/>
          <p:cNvSpPr/>
          <p:nvPr/>
        </p:nvSpPr>
        <p:spPr>
          <a:xfrm rot="360000">
            <a:off x="9496458" y="5039336"/>
            <a:ext cx="762000" cy="101600"/>
          </a:xfrm>
          <a:prstGeom prst="roundRect">
            <a:avLst>
              <a:gd name="adj" fmla="val 37500"/>
            </a:avLst>
          </a:prstGeom>
          <a:solidFill>
            <a:srgbClr val="F4F8F1"/>
          </a:solidFill>
          <a:ln/>
        </p:spPr>
      </p:sp>
      <p:sp>
        <p:nvSpPr>
          <p:cNvPr id="51" name="Shape 48"/>
          <p:cNvSpPr/>
          <p:nvPr/>
        </p:nvSpPr>
        <p:spPr>
          <a:xfrm>
            <a:off x="8458154" y="5016490"/>
            <a:ext cx="2095446" cy="393670"/>
          </a:xfrm>
          <a:prstGeom prst="roundRect">
            <a:avLst>
              <a:gd name="adj" fmla="val 50000"/>
            </a:avLst>
          </a:prstGeom>
          <a:solidFill>
            <a:srgbClr val="A6E27A"/>
          </a:solidFill>
          <a:ln/>
          <a:effectLst>
            <a:outerShdw sx="100000" sy="100000" kx="0" ky="0" algn="bl" rotWithShape="0" blurRad="203200" dist="101600" dir="5400000">
              <a:srgbClr val="040E08">
                <a:alpha val="40000"/>
              </a:srgbClr>
            </a:outerShdw>
          </a:effectLst>
        </p:spPr>
      </p:sp>
      <p:pic>
        <p:nvPicPr>
          <p:cNvPr id="52" name="Image 1" descr="CheckCircle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8623216" y="5111702"/>
            <a:ext cx="203175" cy="203175"/>
          </a:xfrm>
          <a:prstGeom prst="rect">
            <a:avLst/>
          </a:prstGeom>
        </p:spPr>
      </p:pic>
      <p:sp>
        <p:nvSpPr>
          <p:cNvPr id="53" name="Text 49"/>
          <p:cNvSpPr/>
          <p:nvPr/>
        </p:nvSpPr>
        <p:spPr>
          <a:xfrm>
            <a:off x="8902546" y="5106629"/>
            <a:ext cx="1490201" cy="2387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029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Depósito registrado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4970" y="0"/>
            <a:ext cx="4571953" cy="4571953"/>
          </a:xfrm>
          <a:prstGeom prst="roundRect">
            <a:avLst>
              <a:gd name="adj" fmla="val 35556"/>
            </a:avLst>
          </a:prstGeom>
          <a:solidFill>
            <a:srgbClr val="131E17"/>
          </a:solidFill>
          <a:ln/>
        </p:spPr>
      </p:sp>
      <p:sp>
        <p:nvSpPr>
          <p:cNvPr id="3" name="Shape 1"/>
          <p:cNvSpPr/>
          <p:nvPr/>
        </p:nvSpPr>
        <p:spPr>
          <a:xfrm>
            <a:off x="812774" y="906754"/>
            <a:ext cx="355557" cy="25361"/>
          </a:xfrm>
          <a:prstGeom prst="roundRect">
            <a:avLst>
              <a:gd name="adj" fmla="val 49999"/>
            </a:avLst>
          </a:prstGeom>
          <a:solidFill>
            <a:srgbClr val="9DCB6A"/>
          </a:solidFill>
          <a:ln/>
        </p:spPr>
      </p:sp>
      <p:sp>
        <p:nvSpPr>
          <p:cNvPr id="4" name="Text 2"/>
          <p:cNvSpPr/>
          <p:nvPr/>
        </p:nvSpPr>
        <p:spPr>
          <a:xfrm>
            <a:off x="1295279" y="812774"/>
            <a:ext cx="104462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300" kern="0" dirty="0">
                <a:solidFill>
                  <a:srgbClr val="9DCB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AGENDA</a:t>
            </a:r>
            <a:endParaRPr lang="en-US" sz="1200" dirty="0"/>
          </a:p>
        </p:txBody>
      </p:sp>
      <p:sp>
        <p:nvSpPr>
          <p:cNvPr id="5" name="Text 3"/>
          <p:cNvSpPr/>
          <p:nvPr>
            <p:ph type="title"/>
          </p:nvPr>
        </p:nvSpPr>
        <p:spPr>
          <a:xfrm>
            <a:off x="812774" y="1153042"/>
            <a:ext cx="10883343" cy="505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780"/>
              </a:lnSpc>
              <a:buNone/>
            </a:pPr>
            <a:r>
              <a:rPr lang="en-US" sz="3600" b="1" i="0" spc="-50" kern="0" dirty="0">
                <a:solidFill>
                  <a:srgbClr val="F3EEE3"/>
                </a:solidFill>
                <a:latin typeface="Fraunces" pitchFamily="18" charset="0"/>
                <a:ea typeface="Fraunces" pitchFamily="18" charset="-122"/>
                <a:cs typeface="Fraunces" pitchFamily="18" charset="-120"/>
              </a:rPr>
              <a:t>Cuatro partes, </a:t>
            </a:r>
            <a:r>
              <a:rPr lang="en-US" sz="3600" b="1" i="1" spc="-50" kern="0" dirty="0">
                <a:solidFill>
                  <a:srgbClr val="9DCB6A"/>
                </a:solidFill>
                <a:latin typeface="Fraunces" pitchFamily="18" charset="0"/>
                <a:ea typeface="Fraunces" pitchFamily="18" charset="-122"/>
                <a:cs typeface="Fraunces" pitchFamily="18" charset="-120"/>
              </a:rPr>
              <a:t>una fase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815949" y="2716190"/>
            <a:ext cx="2501895" cy="2349441"/>
          </a:xfrm>
          <a:prstGeom prst="roundRect">
            <a:avLst>
              <a:gd name="adj" fmla="val 6352"/>
            </a:avLst>
          </a:prstGeom>
          <a:solidFill>
            <a:srgbClr val="16241B"/>
          </a:solidFill>
          <a:ln w="6350">
            <a:solidFill>
              <a:srgbClr val="2436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1381" y="2971622"/>
            <a:ext cx="2050763" cy="6349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800"/>
              </a:lnSpc>
              <a:buNone/>
            </a:pPr>
            <a:r>
              <a:rPr lang="en-US" sz="4800" dirty="0">
                <a:solidFill>
                  <a:srgbClr val="9DCB6A"/>
                </a:solidFill>
                <a:latin typeface="Fraunces" pitchFamily="18" charset="0"/>
                <a:ea typeface="Fraunces" pitchFamily="18" charset="-122"/>
                <a:cs typeface="Fraunces" pitchFamily="18" charset="-120"/>
              </a:rPr>
              <a:t>01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1071381" y="3708168"/>
            <a:ext cx="2050763" cy="3326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20"/>
              </a:lnSpc>
              <a:buNone/>
            </a:pPr>
            <a:r>
              <a:rPr lang="en-US" sz="2200" dirty="0">
                <a:solidFill>
                  <a:srgbClr val="F3EEE3"/>
                </a:solidFill>
                <a:latin typeface="Fraunces" pitchFamily="18" charset="0"/>
                <a:ea typeface="Fraunces" pitchFamily="18" charset="-122"/>
                <a:cs typeface="Fraunces" pitchFamily="18" charset="-120"/>
              </a:rPr>
              <a:t>Scrum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071381" y="4142416"/>
            <a:ext cx="2050763" cy="688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BFC7B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Cómo trabajamos, los artefactos y cómo van los sprints.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502009" y="2716190"/>
            <a:ext cx="2508199" cy="2349441"/>
          </a:xfrm>
          <a:prstGeom prst="roundRect">
            <a:avLst>
              <a:gd name="adj" fmla="val 6352"/>
            </a:avLst>
          </a:prstGeom>
          <a:solidFill>
            <a:srgbClr val="16241B"/>
          </a:solidFill>
          <a:ln w="6350">
            <a:solidFill>
              <a:srgbClr val="24362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757440" y="2971622"/>
            <a:ext cx="2057256" cy="6349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800"/>
              </a:lnSpc>
              <a:buNone/>
            </a:pPr>
            <a:r>
              <a:rPr lang="en-US" sz="4800" dirty="0">
                <a:solidFill>
                  <a:srgbClr val="9DCB6A"/>
                </a:solidFill>
                <a:latin typeface="Fraunces" pitchFamily="18" charset="0"/>
                <a:ea typeface="Fraunces" pitchFamily="18" charset="-122"/>
                <a:cs typeface="Fraunces" pitchFamily="18" charset="-120"/>
              </a:rPr>
              <a:t>02</a:t>
            </a:r>
            <a:endParaRPr lang="en-US" sz="4800" dirty="0"/>
          </a:p>
        </p:txBody>
      </p:sp>
      <p:sp>
        <p:nvSpPr>
          <p:cNvPr id="12" name="Text 10"/>
          <p:cNvSpPr/>
          <p:nvPr/>
        </p:nvSpPr>
        <p:spPr>
          <a:xfrm>
            <a:off x="3757440" y="3708168"/>
            <a:ext cx="2057256" cy="3326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20"/>
              </a:lnSpc>
              <a:buNone/>
            </a:pPr>
            <a:r>
              <a:rPr lang="en-US" sz="2200" dirty="0">
                <a:solidFill>
                  <a:srgbClr val="F3EEE3"/>
                </a:solidFill>
                <a:latin typeface="Fraunces" pitchFamily="18" charset="0"/>
                <a:ea typeface="Fraunces" pitchFamily="18" charset="-122"/>
                <a:cs typeface="Fraunces" pitchFamily="18" charset="-120"/>
              </a:rPr>
              <a:t>Modelo 4+1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757440" y="4142416"/>
            <a:ext cx="2057256" cy="46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BFC7B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Cinco vistas y trece diagramas, uno por lámina.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188069" y="2716190"/>
            <a:ext cx="2508199" cy="2349441"/>
          </a:xfrm>
          <a:prstGeom prst="roundRect">
            <a:avLst>
              <a:gd name="adj" fmla="val 6352"/>
            </a:avLst>
          </a:prstGeom>
          <a:solidFill>
            <a:srgbClr val="16241B"/>
          </a:solidFill>
          <a:ln w="6350">
            <a:solidFill>
              <a:srgbClr val="24362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43500" y="2971622"/>
            <a:ext cx="2057256" cy="6349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800"/>
              </a:lnSpc>
              <a:buNone/>
            </a:pPr>
            <a:r>
              <a:rPr lang="en-US" sz="4800" dirty="0">
                <a:solidFill>
                  <a:srgbClr val="9DCB6A"/>
                </a:solidFill>
                <a:latin typeface="Fraunces" pitchFamily="18" charset="0"/>
                <a:ea typeface="Fraunces" pitchFamily="18" charset="-122"/>
                <a:cs typeface="Fraunces" pitchFamily="18" charset="-120"/>
              </a:rPr>
              <a:t>03</a:t>
            </a:r>
            <a:endParaRPr lang="en-US" sz="4800" dirty="0"/>
          </a:p>
        </p:txBody>
      </p:sp>
      <p:sp>
        <p:nvSpPr>
          <p:cNvPr id="16" name="Text 14"/>
          <p:cNvSpPr/>
          <p:nvPr/>
        </p:nvSpPr>
        <p:spPr>
          <a:xfrm>
            <a:off x="6443500" y="3708168"/>
            <a:ext cx="2057256" cy="3326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20"/>
              </a:lnSpc>
              <a:buNone/>
            </a:pPr>
            <a:r>
              <a:rPr lang="en-US" sz="2200" dirty="0">
                <a:solidFill>
                  <a:srgbClr val="F3EEE3"/>
                </a:solidFill>
                <a:latin typeface="Fraunces" pitchFamily="18" charset="0"/>
                <a:ea typeface="Fraunces" pitchFamily="18" charset="-122"/>
                <a:cs typeface="Fraunces" pitchFamily="18" charset="-120"/>
              </a:rPr>
              <a:t>Pilotaje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443500" y="4142416"/>
            <a:ext cx="2057256" cy="688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BFC7B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 ruta en la planta, los KPIs de logro y la tasa de éxito.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867825" y="2716190"/>
            <a:ext cx="2508199" cy="2349441"/>
          </a:xfrm>
          <a:prstGeom prst="roundRect">
            <a:avLst>
              <a:gd name="adj" fmla="val 6352"/>
            </a:avLst>
          </a:prstGeom>
          <a:solidFill>
            <a:srgbClr val="16241B"/>
          </a:solidFill>
          <a:ln w="6350">
            <a:solidFill>
              <a:srgbClr val="24362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23256" y="2971622"/>
            <a:ext cx="2057256" cy="6349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800"/>
              </a:lnSpc>
              <a:buNone/>
            </a:pPr>
            <a:r>
              <a:rPr lang="en-US" sz="4800" dirty="0">
                <a:solidFill>
                  <a:srgbClr val="D9915C"/>
                </a:solidFill>
                <a:latin typeface="Fraunces" pitchFamily="18" charset="0"/>
                <a:ea typeface="Fraunces" pitchFamily="18" charset="-122"/>
                <a:cs typeface="Fraunces" pitchFamily="18" charset="-120"/>
              </a:rPr>
              <a:t>04</a:t>
            </a:r>
            <a:endParaRPr lang="en-US" sz="4800" dirty="0"/>
          </a:p>
        </p:txBody>
      </p:sp>
      <p:sp>
        <p:nvSpPr>
          <p:cNvPr id="20" name="Text 18"/>
          <p:cNvSpPr/>
          <p:nvPr/>
        </p:nvSpPr>
        <p:spPr>
          <a:xfrm>
            <a:off x="9123256" y="3708168"/>
            <a:ext cx="2057256" cy="3326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20"/>
              </a:lnSpc>
              <a:buNone/>
            </a:pPr>
            <a:r>
              <a:rPr lang="en-US" sz="2200" dirty="0">
                <a:solidFill>
                  <a:srgbClr val="F3EEE3"/>
                </a:solidFill>
                <a:latin typeface="Fraunces" pitchFamily="18" charset="0"/>
                <a:ea typeface="Fraunces" pitchFamily="18" charset="-122"/>
                <a:cs typeface="Fraunces" pitchFamily="18" charset="-120"/>
              </a:rPr>
              <a:t>Aplicativo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9123256" y="4142416"/>
            <a:ext cx="2057256" cy="46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BFC7B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Colaborador, validador, panel web y demostración.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495654"/>
            <a:ext cx="4571953" cy="4571953"/>
          </a:xfrm>
          <a:prstGeom prst="roundRect">
            <a:avLst>
              <a:gd name="adj" fmla="val 35556"/>
            </a:avLst>
          </a:prstGeom>
          <a:solidFill>
            <a:srgbClr val="131E17"/>
          </a:solidFill>
          <a:ln/>
        </p:spPr>
      </p:sp>
      <p:sp>
        <p:nvSpPr>
          <p:cNvPr id="3" name="Shape 1"/>
          <p:cNvSpPr/>
          <p:nvPr/>
        </p:nvSpPr>
        <p:spPr>
          <a:xfrm>
            <a:off x="812774" y="906754"/>
            <a:ext cx="355557" cy="25361"/>
          </a:xfrm>
          <a:prstGeom prst="roundRect">
            <a:avLst>
              <a:gd name="adj" fmla="val 49999"/>
            </a:avLst>
          </a:prstGeom>
          <a:solidFill>
            <a:srgbClr val="9DCB6A"/>
          </a:solidFill>
          <a:ln/>
        </p:spPr>
      </p:sp>
      <p:sp>
        <p:nvSpPr>
          <p:cNvPr id="4" name="Text 2"/>
          <p:cNvSpPr/>
          <p:nvPr/>
        </p:nvSpPr>
        <p:spPr>
          <a:xfrm>
            <a:off x="1295279" y="812774"/>
            <a:ext cx="453901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300" kern="0" dirty="0">
                <a:solidFill>
                  <a:srgbClr val="9DCB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METODOLOGÍA · SCRUM ADAPTADO</a:t>
            </a:r>
            <a:endParaRPr lang="en-US" sz="1200" dirty="0"/>
          </a:p>
        </p:txBody>
      </p:sp>
      <p:sp>
        <p:nvSpPr>
          <p:cNvPr id="5" name="Text 3"/>
          <p:cNvSpPr/>
          <p:nvPr>
            <p:ph type="title"/>
          </p:nvPr>
        </p:nvSpPr>
        <p:spPr>
          <a:xfrm>
            <a:off x="812774" y="1714311"/>
            <a:ext cx="10883343" cy="505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780"/>
              </a:lnSpc>
              <a:buNone/>
            </a:pPr>
            <a:r>
              <a:rPr lang="en-US" sz="3600" b="1" i="0" spc="-50" kern="0" dirty="0">
                <a:solidFill>
                  <a:srgbClr val="F3EEE3"/>
                </a:solidFill>
                <a:latin typeface="Fraunces" pitchFamily="18" charset="0"/>
                <a:ea typeface="Fraunces" pitchFamily="18" charset="-122"/>
                <a:cs typeface="Fraunces" pitchFamily="18" charset="-120"/>
              </a:rPr>
              <a:t>Tres roles, sprints de </a:t>
            </a:r>
            <a:r>
              <a:rPr lang="en-US" sz="3600" b="1" i="1" spc="-50" kern="0" dirty="0">
                <a:solidFill>
                  <a:srgbClr val="9DCB6A"/>
                </a:solidFill>
                <a:latin typeface="Fraunces" pitchFamily="18" charset="0"/>
                <a:ea typeface="Fraunces" pitchFamily="18" charset="-122"/>
                <a:cs typeface="Fraunces" pitchFamily="18" charset="-120"/>
              </a:rPr>
              <a:t>dos semanas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812774" y="2495420"/>
            <a:ext cx="3403550" cy="1790682"/>
          </a:xfrm>
          <a:prstGeom prst="roundRect">
            <a:avLst>
              <a:gd name="adj" fmla="val 8511"/>
            </a:avLst>
          </a:prstGeom>
          <a:solidFill>
            <a:srgbClr val="F3EEE3"/>
          </a:solidFill>
          <a:ln/>
        </p:spPr>
      </p:sp>
      <p:sp>
        <p:nvSpPr>
          <p:cNvPr id="7" name="Text 5"/>
          <p:cNvSpPr/>
          <p:nvPr/>
        </p:nvSpPr>
        <p:spPr>
          <a:xfrm>
            <a:off x="1066743" y="2723956"/>
            <a:ext cx="298248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200" kern="0" dirty="0">
                <a:solidFill>
                  <a:srgbClr val="8A4A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 OWNER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66743" y="3026111"/>
            <a:ext cx="2982480" cy="3047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2000" dirty="0">
                <a:solidFill>
                  <a:srgbClr val="16241B"/>
                </a:solidFill>
                <a:latin typeface="Fraunces" pitchFamily="18" charset="0"/>
                <a:ea typeface="Fraunces" pitchFamily="18" charset="-122"/>
                <a:cs typeface="Fraunces" pitchFamily="18" charset="-120"/>
              </a:rPr>
              <a:t>La viña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066743" y="3394275"/>
            <a:ext cx="2982480" cy="688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4A5A4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 contraparte de Sostenibilidad y Calidad define y prioriza los requerimientos.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91010" y="2498595"/>
            <a:ext cx="3403577" cy="1784332"/>
          </a:xfrm>
          <a:prstGeom prst="roundRect">
            <a:avLst>
              <a:gd name="adj" fmla="val 8363"/>
            </a:avLst>
          </a:prstGeom>
          <a:solidFill>
            <a:srgbClr val="16241B"/>
          </a:solidFill>
          <a:ln w="6350">
            <a:solidFill>
              <a:srgbClr val="24362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46442" y="2728593"/>
            <a:ext cx="297949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200" kern="0" dirty="0">
                <a:solidFill>
                  <a:srgbClr val="9DCB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SCRUM MASTER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646442" y="3030748"/>
            <a:ext cx="2979495" cy="3047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2000" dirty="0">
                <a:solidFill>
                  <a:srgbClr val="F3EEE3"/>
                </a:solidFill>
                <a:latin typeface="Fraunces" pitchFamily="18" charset="0"/>
                <a:ea typeface="Fraunces" pitchFamily="18" charset="-122"/>
                <a:cs typeface="Fraunces" pitchFamily="18" charset="-120"/>
              </a:rPr>
              <a:t>Matías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646442" y="3398913"/>
            <a:ext cx="2979495" cy="46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BFC7B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Cuida el proceso, el tablero y que cada sprint cierre con su revisión.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978751" y="2498595"/>
            <a:ext cx="3403577" cy="1784332"/>
          </a:xfrm>
          <a:prstGeom prst="roundRect">
            <a:avLst>
              <a:gd name="adj" fmla="val 8363"/>
            </a:avLst>
          </a:prstGeom>
          <a:solidFill>
            <a:srgbClr val="16241B"/>
          </a:solidFill>
          <a:ln w="6350">
            <a:solidFill>
              <a:srgbClr val="24362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34183" y="2728593"/>
            <a:ext cx="297949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200" kern="0" dirty="0">
                <a:solidFill>
                  <a:srgbClr val="9DCB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EQUIPO DE DESARROLLO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234183" y="3030748"/>
            <a:ext cx="3144970" cy="3047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2000" dirty="0">
                <a:solidFill>
                  <a:srgbClr val="F3EEE3"/>
                </a:solidFill>
                <a:latin typeface="Fraunces" pitchFamily="18" charset="0"/>
                <a:ea typeface="Fraunces" pitchFamily="18" charset="-122"/>
                <a:cs typeface="Fraunces" pitchFamily="18" charset="-120"/>
              </a:rPr>
              <a:t>Álvaro, Vicente y Matías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8234183" y="3398913"/>
            <a:ext cx="2979495" cy="46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BFC7B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Los tres programan; Álvaro y Vicente lideran lo técnico.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22299" y="4590866"/>
            <a:ext cx="0" cy="558732"/>
          </a:xfrm>
          <a:prstGeom prst="line">
            <a:avLst/>
          </a:prstGeom>
          <a:noFill/>
          <a:ln w="19050">
            <a:solidFill>
              <a:srgbClr val="9DCB6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58272" y="4590866"/>
            <a:ext cx="2414001" cy="3326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20"/>
              </a:lnSpc>
              <a:buNone/>
            </a:pPr>
            <a:r>
              <a:rPr lang="en-US" sz="2200" dirty="0">
                <a:solidFill>
                  <a:srgbClr val="F3EEE3"/>
                </a:solidFill>
                <a:latin typeface="Fraunces" pitchFamily="18" charset="0"/>
                <a:ea typeface="Fraunces" pitchFamily="18" charset="-122"/>
                <a:cs typeface="Fraunces" pitchFamily="18" charset="-120"/>
              </a:rPr>
              <a:t>S0 + 6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958272" y="4936206"/>
            <a:ext cx="2414001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FC7B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sprints de 2 semanas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514663" y="4590866"/>
            <a:ext cx="0" cy="558732"/>
          </a:xfrm>
          <a:prstGeom prst="line">
            <a:avLst/>
          </a:prstGeom>
          <a:noFill/>
          <a:ln w="19050">
            <a:solidFill>
              <a:srgbClr val="9DCB6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0636" y="4590866"/>
            <a:ext cx="2420494" cy="3326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20"/>
              </a:lnSpc>
              <a:buNone/>
            </a:pPr>
            <a:r>
              <a:rPr lang="en-US" sz="2200" dirty="0">
                <a:solidFill>
                  <a:srgbClr val="F3EEE3"/>
                </a:solidFill>
                <a:latin typeface="Fraunces" pitchFamily="18" charset="0"/>
                <a:ea typeface="Fraunces" pitchFamily="18" charset="-122"/>
                <a:cs typeface="Fraunces" pitchFamily="18" charset="-120"/>
              </a:rPr>
              <a:t>Planning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50636" y="4936206"/>
            <a:ext cx="242049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FC7B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 iniciar cada sprint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207099" y="4590866"/>
            <a:ext cx="0" cy="558732"/>
          </a:xfrm>
          <a:prstGeom prst="line">
            <a:avLst/>
          </a:prstGeom>
          <a:noFill/>
          <a:ln w="19050">
            <a:solidFill>
              <a:srgbClr val="9DCB6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43072" y="4590866"/>
            <a:ext cx="2414001" cy="3326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20"/>
              </a:lnSpc>
              <a:buNone/>
            </a:pPr>
            <a:r>
              <a:rPr lang="en-US" sz="2200" dirty="0">
                <a:solidFill>
                  <a:srgbClr val="F3EEE3"/>
                </a:solidFill>
                <a:latin typeface="Fraunces" pitchFamily="18" charset="0"/>
                <a:ea typeface="Fraunces" pitchFamily="18" charset="-122"/>
                <a:cs typeface="Fraunces" pitchFamily="18" charset="-120"/>
              </a:rPr>
              <a:t>Review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6343072" y="4936206"/>
            <a:ext cx="2414001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FC7B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 la viña al cierre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8893232" y="4590866"/>
            <a:ext cx="0" cy="558732"/>
          </a:xfrm>
          <a:prstGeom prst="line">
            <a:avLst/>
          </a:prstGeom>
          <a:noFill/>
          <a:ln w="19050">
            <a:solidFill>
              <a:srgbClr val="D9915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029205" y="4590866"/>
            <a:ext cx="2420494" cy="3326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20"/>
              </a:lnSpc>
              <a:buNone/>
            </a:pPr>
            <a:r>
              <a:rPr lang="en-US" sz="2200" dirty="0">
                <a:solidFill>
                  <a:srgbClr val="F3EEE3"/>
                </a:solidFill>
                <a:latin typeface="Fraunces" pitchFamily="18" charset="0"/>
                <a:ea typeface="Fraunces" pitchFamily="18" charset="-122"/>
                <a:cs typeface="Fraunces" pitchFamily="18" charset="-120"/>
              </a:rPr>
              <a:t>Retro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9029205" y="4936206"/>
            <a:ext cx="242049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FC7B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ajustes que quedan registrados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4970" y="0"/>
            <a:ext cx="4571953" cy="4571953"/>
          </a:xfrm>
          <a:prstGeom prst="roundRect">
            <a:avLst>
              <a:gd name="adj" fmla="val 35556"/>
            </a:avLst>
          </a:prstGeom>
          <a:solidFill>
            <a:srgbClr val="131E17"/>
          </a:solidFill>
          <a:ln/>
        </p:spPr>
      </p:sp>
      <p:sp>
        <p:nvSpPr>
          <p:cNvPr id="3" name="Shape 1"/>
          <p:cNvSpPr/>
          <p:nvPr/>
        </p:nvSpPr>
        <p:spPr>
          <a:xfrm>
            <a:off x="812774" y="906752"/>
            <a:ext cx="355557" cy="25361"/>
          </a:xfrm>
          <a:prstGeom prst="roundRect">
            <a:avLst>
              <a:gd name="adj" fmla="val 49999"/>
            </a:avLst>
          </a:prstGeom>
          <a:solidFill>
            <a:srgbClr val="9DCB6A"/>
          </a:solidFill>
          <a:ln/>
        </p:spPr>
      </p:sp>
      <p:sp>
        <p:nvSpPr>
          <p:cNvPr id="4" name="Text 2"/>
          <p:cNvSpPr/>
          <p:nvPr/>
        </p:nvSpPr>
        <p:spPr>
          <a:xfrm>
            <a:off x="1295279" y="812774"/>
            <a:ext cx="266348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300" kern="0" dirty="0">
                <a:solidFill>
                  <a:srgbClr val="9DCB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ARTEFACTOS SCRUM</a:t>
            </a:r>
            <a:endParaRPr lang="en-US" sz="1200" dirty="0"/>
          </a:p>
        </p:txBody>
      </p:sp>
      <p:sp>
        <p:nvSpPr>
          <p:cNvPr id="5" name="Text 3"/>
          <p:cNvSpPr/>
          <p:nvPr>
            <p:ph type="title"/>
          </p:nvPr>
        </p:nvSpPr>
        <p:spPr>
          <a:xfrm>
            <a:off x="812774" y="1153041"/>
            <a:ext cx="10883418" cy="505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780"/>
              </a:lnSpc>
              <a:buNone/>
            </a:pPr>
            <a:r>
              <a:rPr lang="en-US" sz="3600" b="1" i="0" spc="-50" kern="0" dirty="0">
                <a:solidFill>
                  <a:srgbClr val="F3EEE3"/>
                </a:solidFill>
                <a:latin typeface="Fraunces" pitchFamily="18" charset="0"/>
                <a:ea typeface="Fraunces" pitchFamily="18" charset="-122"/>
                <a:cs typeface="Fraunces" pitchFamily="18" charset="-120"/>
              </a:rPr>
              <a:t>Así controlamos el avance, </a:t>
            </a:r>
            <a:r>
              <a:rPr lang="en-US" sz="3600" b="1" i="1" spc="-50" kern="0" dirty="0">
                <a:solidFill>
                  <a:srgbClr val="9DCB6A"/>
                </a:solidFill>
                <a:latin typeface="Fraunces" pitchFamily="18" charset="0"/>
                <a:ea typeface="Fraunces" pitchFamily="18" charset="-122"/>
                <a:cs typeface="Fraunces" pitchFamily="18" charset="-120"/>
              </a:rPr>
              <a:t>sprint a sprint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815949" y="1941021"/>
            <a:ext cx="3380317" cy="2428204"/>
          </a:xfrm>
          <a:prstGeom prst="roundRect">
            <a:avLst>
              <a:gd name="adj" fmla="val 6145"/>
            </a:avLst>
          </a:prstGeom>
          <a:solidFill>
            <a:srgbClr val="16241B"/>
          </a:solidFill>
          <a:ln w="6350">
            <a:solidFill>
              <a:srgbClr val="2436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1381" y="2171019"/>
            <a:ext cx="295553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200" kern="0" dirty="0">
                <a:solidFill>
                  <a:srgbClr val="9DCB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 BACKLOG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71381" y="2473175"/>
            <a:ext cx="2955538" cy="4826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600" dirty="0">
                <a:solidFill>
                  <a:srgbClr val="F3EEE3"/>
                </a:solidFill>
                <a:latin typeface="Fraunces" pitchFamily="18" charset="0"/>
                <a:ea typeface="Fraunces" pitchFamily="18" charset="-122"/>
                <a:cs typeface="Fraunces" pitchFamily="18" charset="-120"/>
              </a:rPr>
              <a:t>47 </a:t>
            </a:r>
            <a:r>
              <a:rPr lang="en-US" sz="3600" dirty="0">
                <a:solidFill>
                  <a:srgbClr val="BFC7BC"/>
                </a:solidFill>
                <a:latin typeface="Fraunces" pitchFamily="18" charset="0"/>
                <a:ea typeface="Fraunces" pitchFamily="18" charset="-122"/>
                <a:cs typeface="Fraunces" pitchFamily="18" charset="-120"/>
              </a:rPr>
              <a:t>historias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1071381" y="3019227"/>
            <a:ext cx="2955538" cy="688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200" b="1" dirty="0">
                <a:solidFill>
                  <a:srgbClr val="F3EEE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174 puntos en 8 épicas</a:t>
            </a:r>
            <a:r>
              <a:rPr lang="en-US" sz="1200" dirty="0">
                <a:solidFill>
                  <a:srgbClr val="BFC7B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una por objetivo específico. Prioridad MoSCoW: 29 historias son Must.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405792" y="1941021"/>
            <a:ext cx="3380390" cy="2428204"/>
          </a:xfrm>
          <a:prstGeom prst="roundRect">
            <a:avLst>
              <a:gd name="adj" fmla="val 6145"/>
            </a:avLst>
          </a:prstGeom>
          <a:solidFill>
            <a:srgbClr val="16241B"/>
          </a:solidFill>
          <a:ln w="6350">
            <a:solidFill>
              <a:srgbClr val="24362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61223" y="2171019"/>
            <a:ext cx="295561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200" kern="0" dirty="0">
                <a:solidFill>
                  <a:srgbClr val="9DCB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SPRINT BACKLOG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661223" y="2473175"/>
            <a:ext cx="2955612" cy="9398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600" dirty="0">
                <a:solidFill>
                  <a:srgbClr val="F3EEE3"/>
                </a:solidFill>
                <a:latin typeface="Fraunces" pitchFamily="18" charset="0"/>
                <a:ea typeface="Fraunces" pitchFamily="18" charset="-122"/>
                <a:cs typeface="Fraunces" pitchFamily="18" charset="-120"/>
              </a:rPr>
              <a:t>1 </a:t>
            </a:r>
            <a:r>
              <a:rPr lang="en-US" sz="3600" dirty="0">
                <a:solidFill>
                  <a:srgbClr val="BFC7BC"/>
                </a:solidFill>
                <a:latin typeface="Fraunces" pitchFamily="18" charset="0"/>
                <a:ea typeface="Fraunces" pitchFamily="18" charset="-122"/>
                <a:cs typeface="Fraunces" pitchFamily="18" charset="-120"/>
              </a:rPr>
              <a:t>hoja por sprint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4661223" y="3476444"/>
            <a:ext cx="2955612" cy="688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200" b="1" dirty="0">
                <a:solidFill>
                  <a:srgbClr val="F3EEE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Historias, tareas, responsables y burndown.</a:t>
            </a:r>
            <a:r>
              <a:rPr lang="en-US" sz="1200" dirty="0">
                <a:solidFill>
                  <a:srgbClr val="BFC7B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En GitHub: una casilla del issue, un commit.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995707" y="1941021"/>
            <a:ext cx="3380317" cy="2428204"/>
          </a:xfrm>
          <a:prstGeom prst="roundRect">
            <a:avLst>
              <a:gd name="adj" fmla="val 6145"/>
            </a:avLst>
          </a:prstGeom>
          <a:solidFill>
            <a:srgbClr val="16241B"/>
          </a:solidFill>
          <a:ln w="6350">
            <a:solidFill>
              <a:srgbClr val="24362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51138" y="2171019"/>
            <a:ext cx="295553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200" kern="0" dirty="0">
                <a:solidFill>
                  <a:srgbClr val="D9915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RETROSPECTIVAS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251138" y="2473175"/>
            <a:ext cx="2955538" cy="2882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70"/>
              </a:lnSpc>
              <a:buNone/>
            </a:pPr>
            <a:r>
              <a:rPr lang="en-US" sz="1800" dirty="0">
                <a:solidFill>
                  <a:srgbClr val="F3EEE3"/>
                </a:solidFill>
                <a:latin typeface="Fraunces" pitchFamily="18" charset="0"/>
                <a:ea typeface="Fraunces" pitchFamily="18" charset="-122"/>
                <a:cs typeface="Fraunces" pitchFamily="18" charset="-120"/>
              </a:rPr>
              <a:t>Lo que ya ajustamos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251138" y="2824891"/>
            <a:ext cx="2955538" cy="4368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D9915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r>
              <a:rPr lang="en-US" sz="1200" dirty="0">
                <a:solidFill>
                  <a:srgbClr val="BFC7B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Cualquier integrante distinto del autor aprueba un PR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251138" y="3312469"/>
            <a:ext cx="2955538" cy="2311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D9915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r>
              <a:rPr lang="en-US" sz="1200" dirty="0">
                <a:solidFill>
                  <a:srgbClr val="BFC7B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Cambios pequeños sin issue previo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251138" y="3594334"/>
            <a:ext cx="2955538" cy="4368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D9915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r>
              <a:rPr lang="en-US" sz="1200" dirty="0">
                <a:solidFill>
                  <a:srgbClr val="BFC7B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Revisión del tablero al cerrar cada sprint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12774" y="4677164"/>
            <a:ext cx="10566425" cy="1251804"/>
          </a:xfrm>
          <a:prstGeom prst="roundRect">
            <a:avLst>
              <a:gd name="adj" fmla="val 12174"/>
            </a:avLst>
          </a:prstGeom>
          <a:solidFill>
            <a:srgbClr val="9DCB6A"/>
          </a:solidFill>
          <a:ln/>
        </p:spPr>
      </p:sp>
      <p:sp>
        <p:nvSpPr>
          <p:cNvPr id="21" name="Text 19"/>
          <p:cNvSpPr/>
          <p:nvPr/>
        </p:nvSpPr>
        <p:spPr>
          <a:xfrm>
            <a:off x="1066743" y="5037068"/>
            <a:ext cx="1701781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1E3A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DEFINITION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066743" y="5275748"/>
            <a:ext cx="1701781" cy="3187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10"/>
              </a:lnSpc>
              <a:buNone/>
            </a:pPr>
            <a:r>
              <a:rPr lang="en-US" sz="2200" b="1" dirty="0">
                <a:solidFill>
                  <a:srgbClr val="0F1712"/>
                </a:solidFill>
                <a:latin typeface="Fraunces" pitchFamily="18" charset="0"/>
                <a:ea typeface="Fraunces" pitchFamily="18" charset="-122"/>
                <a:cs typeface="Fraunces" pitchFamily="18" charset="-120"/>
              </a:rPr>
              <a:t>of Done</a:t>
            </a:r>
            <a:endParaRPr lang="en-US" sz="2200" dirty="0"/>
          </a:p>
        </p:txBody>
      </p:sp>
      <p:sp>
        <p:nvSpPr>
          <p:cNvPr id="23" name="Shape 21"/>
          <p:cNvSpPr/>
          <p:nvPr/>
        </p:nvSpPr>
        <p:spPr>
          <a:xfrm>
            <a:off x="2978044" y="4880339"/>
            <a:ext cx="0" cy="845453"/>
          </a:xfrm>
          <a:prstGeom prst="line">
            <a:avLst/>
          </a:prstGeom>
          <a:noFill/>
          <a:ln w="12700">
            <a:solidFill>
              <a:srgbClr val="6E9A4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095237" y="4880339"/>
            <a:ext cx="141571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E3A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095237" y="5131699"/>
            <a:ext cx="1415713" cy="4214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0F17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Pruebas de app y reglas en verde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644241" y="4880339"/>
            <a:ext cx="0" cy="845453"/>
          </a:xfrm>
          <a:prstGeom prst="line">
            <a:avLst/>
          </a:prstGeom>
          <a:noFill/>
          <a:ln w="12700">
            <a:solidFill>
              <a:srgbClr val="6E9A4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61434" y="4880339"/>
            <a:ext cx="141578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E3A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761434" y="5131699"/>
            <a:ext cx="1415785" cy="4214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0F17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 aprobado por otro integrante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310512" y="4880339"/>
            <a:ext cx="0" cy="845453"/>
          </a:xfrm>
          <a:prstGeom prst="line">
            <a:avLst/>
          </a:prstGeom>
          <a:noFill/>
          <a:ln w="12700">
            <a:solidFill>
              <a:srgbClr val="6E9A4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27705" y="4880339"/>
            <a:ext cx="141578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E3A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427705" y="5131699"/>
            <a:ext cx="1415785" cy="6194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0F17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Merge commit: cada aporte con su autor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7976781" y="4880339"/>
            <a:ext cx="0" cy="845453"/>
          </a:xfrm>
          <a:prstGeom prst="line">
            <a:avLst/>
          </a:prstGeom>
          <a:noFill/>
          <a:ln w="12700">
            <a:solidFill>
              <a:srgbClr val="6E9A4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093974" y="4880339"/>
            <a:ext cx="141578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E3A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8093974" y="5131699"/>
            <a:ext cx="1415785" cy="6194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0F17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Funciona publicado y en el teléfono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9643052" y="4880339"/>
            <a:ext cx="0" cy="845453"/>
          </a:xfrm>
          <a:prstGeom prst="line">
            <a:avLst/>
          </a:prstGeom>
          <a:noFill/>
          <a:ln w="12700">
            <a:solidFill>
              <a:srgbClr val="6E9A4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760245" y="4880339"/>
            <a:ext cx="141578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E3A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9760245" y="5131699"/>
            <a:ext cx="1415785" cy="4214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0F17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Documentación actualizada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2774" y="906754"/>
            <a:ext cx="355557" cy="25361"/>
          </a:xfrm>
          <a:prstGeom prst="roundRect">
            <a:avLst>
              <a:gd name="adj" fmla="val 49999"/>
            </a:avLst>
          </a:prstGeom>
          <a:solidFill>
            <a:srgbClr val="9DCB6A"/>
          </a:solidFill>
          <a:ln/>
        </p:spPr>
      </p:sp>
      <p:sp>
        <p:nvSpPr>
          <p:cNvPr id="3" name="Text 1"/>
          <p:cNvSpPr/>
          <p:nvPr/>
        </p:nvSpPr>
        <p:spPr>
          <a:xfrm>
            <a:off x="1295279" y="812775"/>
            <a:ext cx="26527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300" kern="0" dirty="0">
                <a:solidFill>
                  <a:srgbClr val="9DCB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AVANCE DE SPRINTS</a:t>
            </a:r>
            <a:endParaRPr lang="en-US" sz="12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812774" y="1851403"/>
            <a:ext cx="10883343" cy="505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780"/>
              </a:lnSpc>
              <a:buNone/>
            </a:pPr>
            <a:r>
              <a:rPr lang="en-US" sz="3600" b="1" i="0" spc="-50" kern="0" dirty="0">
                <a:solidFill>
                  <a:srgbClr val="F3EEE3"/>
                </a:solidFill>
                <a:latin typeface="Fraunces" pitchFamily="18" charset="0"/>
                <a:ea typeface="Fraunces" pitchFamily="18" charset="-122"/>
                <a:cs typeface="Fraunces" pitchFamily="18" charset="-120"/>
              </a:rPr>
              <a:t>Vamos en el Sprint 3; </a:t>
            </a:r>
            <a:r>
              <a:rPr lang="en-US" sz="3600" b="1" i="1" spc="-50" kern="0" dirty="0">
                <a:solidFill>
                  <a:srgbClr val="9DCB6A"/>
                </a:solidFill>
                <a:latin typeface="Fraunces" pitchFamily="18" charset="0"/>
                <a:ea typeface="Fraunces" pitchFamily="18" charset="-122"/>
                <a:cs typeface="Fraunces" pitchFamily="18" charset="-120"/>
              </a:rPr>
              <a:t>el piloto parte tras el S4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812774" y="2632512"/>
            <a:ext cx="1441429" cy="1898647"/>
          </a:xfrm>
          <a:prstGeom prst="roundRect">
            <a:avLst>
              <a:gd name="adj" fmla="val 7049"/>
            </a:avLst>
          </a:prstGeom>
          <a:solidFill>
            <a:srgbClr val="16241B"/>
          </a:solidFill>
          <a:ln/>
        </p:spPr>
      </p:sp>
      <p:sp>
        <p:nvSpPr>
          <p:cNvPr id="6" name="Shape 4"/>
          <p:cNvSpPr/>
          <p:nvPr/>
        </p:nvSpPr>
        <p:spPr>
          <a:xfrm>
            <a:off x="812774" y="2632512"/>
            <a:ext cx="1441429" cy="1898647"/>
          </a:xfrm>
          <a:custGeom>
            <a:avLst/>
            <a:gdLst/>
            <a:ahLst/>
            <a:cxnLst/>
            <a:rect l="l" t="t" r="r" b="b"/>
            <a:pathLst>
              <a:path w="1441429" h="1898647">
                <a:moveTo>
                  <a:pt x="0" y="101600"/>
                </a:moveTo>
                <a:lnTo>
                  <a:pt x="0" y="101600"/>
                </a:lnTo>
                <a:arcTo hR="101600" wR="101600" stAng="10800000" swAng="5400000"/>
                <a:lnTo>
                  <a:pt x="1339829" y="0"/>
                </a:lnTo>
                <a:arcTo hR="101600" wR="101600" stAng="16200000" swAng="5400000"/>
                <a:lnTo>
                  <a:pt x="1441429" y="101600"/>
                </a:lnTo>
                <a:arcTo hR="63500" wR="101600" stAng="0" swAng="-5400000"/>
                <a:lnTo>
                  <a:pt x="101600" y="38100"/>
                </a:lnTo>
                <a:arcTo hR="63500" wR="101600" stAng="16200000" swAng="-5400000"/>
                <a:close/>
              </a:path>
            </a:pathLst>
          </a:custGeom>
          <a:solidFill>
            <a:srgbClr val="9DCB6A"/>
          </a:solidFill>
          <a:ln/>
        </p:spPr>
      </p:sp>
      <p:sp>
        <p:nvSpPr>
          <p:cNvPr id="7" name="Text 5"/>
          <p:cNvSpPr/>
          <p:nvPr/>
        </p:nvSpPr>
        <p:spPr>
          <a:xfrm>
            <a:off x="965156" y="2821992"/>
            <a:ext cx="1187466" cy="3048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2200" dirty="0">
                <a:solidFill>
                  <a:srgbClr val="F3EEE3"/>
                </a:solidFill>
                <a:latin typeface="Fraunces" pitchFamily="18" charset="0"/>
                <a:ea typeface="Fraunces" pitchFamily="18" charset="-122"/>
                <a:cs typeface="Fraunces" pitchFamily="18" charset="-120"/>
              </a:rPr>
              <a:t>S0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65156" y="3177552"/>
            <a:ext cx="118746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E99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septiembre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65156" y="3467026"/>
            <a:ext cx="1187466" cy="4368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BFC7B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Validación en terreno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65156" y="3954602"/>
            <a:ext cx="118746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9DCB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 Cerrado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330430" y="2632512"/>
            <a:ext cx="1441429" cy="1898647"/>
          </a:xfrm>
          <a:prstGeom prst="roundRect">
            <a:avLst>
              <a:gd name="adj" fmla="val 7049"/>
            </a:avLst>
          </a:prstGeom>
          <a:solidFill>
            <a:srgbClr val="16241B"/>
          </a:solidFill>
          <a:ln/>
        </p:spPr>
      </p:sp>
      <p:sp>
        <p:nvSpPr>
          <p:cNvPr id="12" name="Shape 10"/>
          <p:cNvSpPr/>
          <p:nvPr/>
        </p:nvSpPr>
        <p:spPr>
          <a:xfrm>
            <a:off x="2330430" y="2632512"/>
            <a:ext cx="1441429" cy="1898647"/>
          </a:xfrm>
          <a:custGeom>
            <a:avLst/>
            <a:gdLst/>
            <a:ahLst/>
            <a:cxnLst/>
            <a:rect l="l" t="t" r="r" b="b"/>
            <a:pathLst>
              <a:path w="1441429" h="1898647">
                <a:moveTo>
                  <a:pt x="0" y="101600"/>
                </a:moveTo>
                <a:lnTo>
                  <a:pt x="0" y="101600"/>
                </a:lnTo>
                <a:arcTo hR="101600" wR="101600" stAng="10800000" swAng="5400000"/>
                <a:lnTo>
                  <a:pt x="1339829" y="0"/>
                </a:lnTo>
                <a:arcTo hR="101600" wR="101600" stAng="16200000" swAng="5400000"/>
                <a:lnTo>
                  <a:pt x="1441429" y="101600"/>
                </a:lnTo>
                <a:arcTo hR="63500" wR="101600" stAng="0" swAng="-5400000"/>
                <a:lnTo>
                  <a:pt x="101600" y="38100"/>
                </a:lnTo>
                <a:arcTo hR="63500" wR="101600" stAng="16200000" swAng="-5400000"/>
                <a:close/>
              </a:path>
            </a:pathLst>
          </a:custGeom>
          <a:solidFill>
            <a:srgbClr val="9DCB6A"/>
          </a:solidFill>
          <a:ln/>
        </p:spPr>
      </p:sp>
      <p:sp>
        <p:nvSpPr>
          <p:cNvPr id="13" name="Text 11"/>
          <p:cNvSpPr/>
          <p:nvPr/>
        </p:nvSpPr>
        <p:spPr>
          <a:xfrm>
            <a:off x="2482812" y="2821992"/>
            <a:ext cx="1187466" cy="3048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2200" dirty="0">
                <a:solidFill>
                  <a:srgbClr val="F3EEE3"/>
                </a:solidFill>
                <a:latin typeface="Fraunces" pitchFamily="18" charset="0"/>
                <a:ea typeface="Fraunces" pitchFamily="18" charset="-122"/>
                <a:cs typeface="Fraunces" pitchFamily="18" charset="-120"/>
              </a:rPr>
              <a:t>S1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2482812" y="3177552"/>
            <a:ext cx="118746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E99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sep · oct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482812" y="3467026"/>
            <a:ext cx="1187466" cy="2311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BFC7B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 de 11 pts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482812" y="3748891"/>
            <a:ext cx="118746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9DCB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 100 %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848087" y="2632512"/>
            <a:ext cx="1441429" cy="1898647"/>
          </a:xfrm>
          <a:prstGeom prst="roundRect">
            <a:avLst>
              <a:gd name="adj" fmla="val 7049"/>
            </a:avLst>
          </a:prstGeom>
          <a:solidFill>
            <a:srgbClr val="16241B"/>
          </a:solidFill>
          <a:ln/>
        </p:spPr>
      </p:sp>
      <p:sp>
        <p:nvSpPr>
          <p:cNvPr id="18" name="Shape 16"/>
          <p:cNvSpPr/>
          <p:nvPr/>
        </p:nvSpPr>
        <p:spPr>
          <a:xfrm>
            <a:off x="3848087" y="2632512"/>
            <a:ext cx="1441429" cy="1898647"/>
          </a:xfrm>
          <a:custGeom>
            <a:avLst/>
            <a:gdLst/>
            <a:ahLst/>
            <a:cxnLst/>
            <a:rect l="l" t="t" r="r" b="b"/>
            <a:pathLst>
              <a:path w="1441429" h="1898647">
                <a:moveTo>
                  <a:pt x="0" y="101600"/>
                </a:moveTo>
                <a:lnTo>
                  <a:pt x="0" y="101600"/>
                </a:lnTo>
                <a:arcTo hR="101600" wR="101600" stAng="10800000" swAng="5400000"/>
                <a:lnTo>
                  <a:pt x="1339829" y="0"/>
                </a:lnTo>
                <a:arcTo hR="101600" wR="101600" stAng="16200000" swAng="5400000"/>
                <a:lnTo>
                  <a:pt x="1441429" y="101600"/>
                </a:lnTo>
                <a:arcTo hR="63500" wR="101600" stAng="0" swAng="-5400000"/>
                <a:lnTo>
                  <a:pt x="101600" y="38100"/>
                </a:lnTo>
                <a:arcTo hR="63500" wR="101600" stAng="16200000" swAng="-5400000"/>
                <a:close/>
              </a:path>
            </a:pathLst>
          </a:custGeom>
          <a:solidFill>
            <a:srgbClr val="9DCB6A"/>
          </a:solidFill>
          <a:ln/>
        </p:spPr>
      </p:sp>
      <p:sp>
        <p:nvSpPr>
          <p:cNvPr id="19" name="Text 17"/>
          <p:cNvSpPr/>
          <p:nvPr/>
        </p:nvSpPr>
        <p:spPr>
          <a:xfrm>
            <a:off x="4000469" y="2821992"/>
            <a:ext cx="1187466" cy="3048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2200" dirty="0">
                <a:solidFill>
                  <a:srgbClr val="F3EEE3"/>
                </a:solidFill>
                <a:latin typeface="Fraunces" pitchFamily="18" charset="0"/>
                <a:ea typeface="Fraunces" pitchFamily="18" charset="-122"/>
                <a:cs typeface="Fraunces" pitchFamily="18" charset="-120"/>
              </a:rPr>
              <a:t>S2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000469" y="3177552"/>
            <a:ext cx="118746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E99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 – 16 oct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000469" y="3467026"/>
            <a:ext cx="1187466" cy="6425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BFC7B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Panel: configurar la planta · 31 pts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000469" y="4160314"/>
            <a:ext cx="118746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9DCB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 Cerrado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359367" y="2632512"/>
            <a:ext cx="1441429" cy="1898647"/>
          </a:xfrm>
          <a:prstGeom prst="roundRect">
            <a:avLst>
              <a:gd name="adj" fmla="val 7049"/>
            </a:avLst>
          </a:prstGeom>
          <a:solidFill>
            <a:srgbClr val="F3EEE3"/>
          </a:solidFill>
          <a:ln/>
        </p:spPr>
      </p:sp>
      <p:sp>
        <p:nvSpPr>
          <p:cNvPr id="24" name="Shape 22"/>
          <p:cNvSpPr/>
          <p:nvPr/>
        </p:nvSpPr>
        <p:spPr>
          <a:xfrm>
            <a:off x="5359367" y="2632512"/>
            <a:ext cx="1441429" cy="1898647"/>
          </a:xfrm>
          <a:custGeom>
            <a:avLst/>
            <a:gdLst/>
            <a:ahLst/>
            <a:cxnLst/>
            <a:rect l="l" t="t" r="r" b="b"/>
            <a:pathLst>
              <a:path w="1441429" h="1898647">
                <a:moveTo>
                  <a:pt x="0" y="101600"/>
                </a:moveTo>
                <a:lnTo>
                  <a:pt x="0" y="101600"/>
                </a:lnTo>
                <a:arcTo hR="101600" wR="101600" stAng="10800000" swAng="5400000"/>
                <a:lnTo>
                  <a:pt x="1339829" y="0"/>
                </a:lnTo>
                <a:arcTo hR="101600" wR="101600" stAng="16200000" swAng="5400000"/>
                <a:lnTo>
                  <a:pt x="1441429" y="101600"/>
                </a:lnTo>
                <a:arcTo hR="63500" wR="101600" stAng="0" swAng="-5400000"/>
                <a:lnTo>
                  <a:pt x="101600" y="38100"/>
                </a:lnTo>
                <a:arcTo hR="63500" wR="101600" stAng="16200000" swAng="-5400000"/>
                <a:close/>
              </a:path>
            </a:pathLst>
          </a:custGeom>
          <a:solidFill>
            <a:srgbClr val="D9915C"/>
          </a:solidFill>
          <a:ln/>
        </p:spPr>
      </p:sp>
      <p:sp>
        <p:nvSpPr>
          <p:cNvPr id="25" name="Text 23"/>
          <p:cNvSpPr/>
          <p:nvPr/>
        </p:nvSpPr>
        <p:spPr>
          <a:xfrm>
            <a:off x="5511748" y="2821992"/>
            <a:ext cx="1187466" cy="3048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2200" dirty="0">
                <a:solidFill>
                  <a:srgbClr val="16241B"/>
                </a:solidFill>
                <a:latin typeface="Fraunces" pitchFamily="18" charset="0"/>
                <a:ea typeface="Fraunces" pitchFamily="18" charset="-122"/>
                <a:cs typeface="Fraunces" pitchFamily="18" charset="-120"/>
              </a:rPr>
              <a:t>S3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5511748" y="3177552"/>
            <a:ext cx="118746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A4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19 – 30 oct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511748" y="3467026"/>
            <a:ext cx="1187466" cy="4368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16241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Completar el panel y la app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511748" y="3954602"/>
            <a:ext cx="118746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8A4A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● En curso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880199" y="2635687"/>
            <a:ext cx="1447760" cy="1892297"/>
          </a:xfrm>
          <a:prstGeom prst="roundRect">
            <a:avLst>
              <a:gd name="adj" fmla="val 6798"/>
            </a:avLst>
          </a:prstGeom>
          <a:solidFill>
            <a:srgbClr val="16241B"/>
          </a:solidFill>
          <a:ln w="6350">
            <a:solidFill>
              <a:srgbClr val="24362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034043" y="2789532"/>
            <a:ext cx="1190872" cy="3048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2200" dirty="0">
                <a:solidFill>
                  <a:srgbClr val="F3EEE3"/>
                </a:solidFill>
                <a:latin typeface="Fraunces" pitchFamily="18" charset="0"/>
                <a:ea typeface="Fraunces" pitchFamily="18" charset="-122"/>
                <a:cs typeface="Fraunces" pitchFamily="18" charset="-120"/>
              </a:rPr>
              <a:t>S4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7034043" y="3145089"/>
            <a:ext cx="119087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E99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 – 13 nov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7034043" y="3434562"/>
            <a:ext cx="1190872" cy="6425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BFC7B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Cierre funcional y preparación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7034043" y="4127850"/>
            <a:ext cx="119087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E99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Planificado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8404159" y="2635687"/>
            <a:ext cx="1447760" cy="1892297"/>
          </a:xfrm>
          <a:prstGeom prst="roundRect">
            <a:avLst>
              <a:gd name="adj" fmla="val 6798"/>
            </a:avLst>
          </a:prstGeom>
          <a:solidFill>
            <a:srgbClr val="16241B"/>
          </a:solidFill>
          <a:ln w="6350">
            <a:solidFill>
              <a:srgbClr val="24362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558002" y="2789532"/>
            <a:ext cx="1190872" cy="3048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2200" dirty="0">
                <a:solidFill>
                  <a:srgbClr val="F3EEE3"/>
                </a:solidFill>
                <a:latin typeface="Fraunces" pitchFamily="18" charset="0"/>
                <a:ea typeface="Fraunces" pitchFamily="18" charset="-122"/>
                <a:cs typeface="Fraunces" pitchFamily="18" charset="-120"/>
              </a:rPr>
              <a:t>S5</a:t>
            </a:r>
            <a:endParaRPr lang="en-US" sz="2200" dirty="0"/>
          </a:p>
        </p:txBody>
      </p:sp>
      <p:sp>
        <p:nvSpPr>
          <p:cNvPr id="36" name="Text 34"/>
          <p:cNvSpPr/>
          <p:nvPr/>
        </p:nvSpPr>
        <p:spPr>
          <a:xfrm>
            <a:off x="8558002" y="3145089"/>
            <a:ext cx="119087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E99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16 – 27 nov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8558002" y="3434562"/>
            <a:ext cx="1190872" cy="2311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BFC7B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Piloto y ajustes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8558002" y="3716427"/>
            <a:ext cx="119087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E99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Planificado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9934568" y="2635687"/>
            <a:ext cx="1447760" cy="1892297"/>
          </a:xfrm>
          <a:prstGeom prst="roundRect">
            <a:avLst>
              <a:gd name="adj" fmla="val 6798"/>
            </a:avLst>
          </a:prstGeom>
          <a:solidFill>
            <a:srgbClr val="16241B"/>
          </a:solidFill>
          <a:ln w="6350">
            <a:solidFill>
              <a:srgbClr val="24362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0088412" y="2789532"/>
            <a:ext cx="1190872" cy="3048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2200" dirty="0">
                <a:solidFill>
                  <a:srgbClr val="F3EEE3"/>
                </a:solidFill>
                <a:latin typeface="Fraunces" pitchFamily="18" charset="0"/>
                <a:ea typeface="Fraunces" pitchFamily="18" charset="-122"/>
                <a:cs typeface="Fraunces" pitchFamily="18" charset="-120"/>
              </a:rPr>
              <a:t>S6</a:t>
            </a:r>
            <a:endParaRPr lang="en-US" sz="2200" dirty="0"/>
          </a:p>
        </p:txBody>
      </p:sp>
      <p:sp>
        <p:nvSpPr>
          <p:cNvPr id="41" name="Text 39"/>
          <p:cNvSpPr/>
          <p:nvPr/>
        </p:nvSpPr>
        <p:spPr>
          <a:xfrm>
            <a:off x="10088412" y="3145089"/>
            <a:ext cx="119087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E99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30 nov – 11 dic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10088412" y="3434562"/>
            <a:ext cx="1190872" cy="6425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BFC7B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Piloto, medición y cierre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10088412" y="4127850"/>
            <a:ext cx="119087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E99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Planificado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863568" y="4918453"/>
            <a:ext cx="527296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E99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Velocidad: </a:t>
            </a:r>
            <a:r>
              <a:rPr lang="en-US" sz="1200" b="1" dirty="0">
                <a:solidFill>
                  <a:srgbClr val="F3EEE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 pts</a:t>
            </a:r>
            <a:r>
              <a:rPr lang="en-US" sz="1200" dirty="0">
                <a:solidFill>
                  <a:srgbClr val="8E99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en S1 → </a:t>
            </a:r>
            <a:r>
              <a:rPr lang="en-US" sz="1200" b="1" dirty="0">
                <a:solidFill>
                  <a:srgbClr val="F3EEE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31 pts</a:t>
            </a:r>
            <a:r>
              <a:rPr lang="en-US" sz="1200" dirty="0">
                <a:solidFill>
                  <a:srgbClr val="8E99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en S2 · 174 pts en el backlog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8178752" y="4829618"/>
            <a:ext cx="3200375" cy="393670"/>
          </a:xfrm>
          <a:prstGeom prst="roundRect">
            <a:avLst>
              <a:gd name="adj" fmla="val 50000"/>
            </a:avLst>
          </a:prstGeom>
          <a:solidFill>
            <a:srgbClr val="D9915C"/>
          </a:solidFill>
          <a:ln/>
        </p:spPr>
        <p:txBody>
          <a:bodyPr wrap="square" lIns="94749" tIns="19824" rIns="94749" bIns="19824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F17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Piloto · 4 semanas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4970" y="0"/>
            <a:ext cx="4571953" cy="4571953"/>
          </a:xfrm>
          <a:prstGeom prst="roundRect">
            <a:avLst>
              <a:gd name="adj" fmla="val 35556"/>
            </a:avLst>
          </a:prstGeom>
          <a:solidFill>
            <a:srgbClr val="131E17"/>
          </a:solidFill>
          <a:ln/>
        </p:spPr>
      </p:sp>
      <p:sp>
        <p:nvSpPr>
          <p:cNvPr id="3" name="Shape 1"/>
          <p:cNvSpPr/>
          <p:nvPr/>
        </p:nvSpPr>
        <p:spPr>
          <a:xfrm>
            <a:off x="812774" y="906754"/>
            <a:ext cx="355557" cy="25361"/>
          </a:xfrm>
          <a:prstGeom prst="roundRect">
            <a:avLst>
              <a:gd name="adj" fmla="val 49999"/>
            </a:avLst>
          </a:prstGeom>
          <a:solidFill>
            <a:srgbClr val="9DCB6A"/>
          </a:solidFill>
          <a:ln/>
        </p:spPr>
      </p:sp>
      <p:sp>
        <p:nvSpPr>
          <p:cNvPr id="4" name="Text 2"/>
          <p:cNvSpPr/>
          <p:nvPr/>
        </p:nvSpPr>
        <p:spPr>
          <a:xfrm>
            <a:off x="1295279" y="812775"/>
            <a:ext cx="262478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300" kern="0" dirty="0">
                <a:solidFill>
                  <a:srgbClr val="9DCB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MODELO 4+1 · MAPA</a:t>
            </a:r>
            <a:endParaRPr lang="en-US" sz="1200" dirty="0"/>
          </a:p>
        </p:txBody>
      </p:sp>
      <p:sp>
        <p:nvSpPr>
          <p:cNvPr id="5" name="Text 3"/>
          <p:cNvSpPr/>
          <p:nvPr>
            <p:ph type="title"/>
          </p:nvPr>
        </p:nvSpPr>
        <p:spPr>
          <a:xfrm>
            <a:off x="812774" y="1153043"/>
            <a:ext cx="10883418" cy="505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780"/>
              </a:lnSpc>
              <a:buNone/>
            </a:pPr>
            <a:r>
              <a:rPr lang="en-US" sz="3600" b="1" i="0" spc="-50" kern="0" dirty="0">
                <a:solidFill>
                  <a:srgbClr val="F3EEE3"/>
                </a:solidFill>
                <a:latin typeface="Fraunces" pitchFamily="18" charset="0"/>
                <a:ea typeface="Fraunces" pitchFamily="18" charset="-122"/>
                <a:cs typeface="Fraunces" pitchFamily="18" charset="-120"/>
              </a:rPr>
              <a:t>Cinco preguntas, </a:t>
            </a:r>
            <a:r>
              <a:rPr lang="en-US" sz="3600" b="1" i="1" spc="-50" kern="0" dirty="0">
                <a:solidFill>
                  <a:srgbClr val="9DCB6A"/>
                </a:solidFill>
                <a:latin typeface="Fraunces" pitchFamily="18" charset="0"/>
                <a:ea typeface="Fraunces" pitchFamily="18" charset="-122"/>
                <a:cs typeface="Fraunces" pitchFamily="18" charset="-120"/>
              </a:rPr>
              <a:t>trece diagramas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812774" y="1937848"/>
            <a:ext cx="1983931" cy="4107346"/>
          </a:xfrm>
          <a:prstGeom prst="roundRect">
            <a:avLst>
              <a:gd name="adj" fmla="val 7682"/>
            </a:avLst>
          </a:prstGeom>
          <a:solidFill>
            <a:srgbClr val="9DCB6A"/>
          </a:solidFill>
          <a:ln/>
        </p:spPr>
      </p:sp>
      <p:sp>
        <p:nvSpPr>
          <p:cNvPr id="7" name="Text 5"/>
          <p:cNvSpPr/>
          <p:nvPr/>
        </p:nvSpPr>
        <p:spPr>
          <a:xfrm>
            <a:off x="1015949" y="2166382"/>
            <a:ext cx="162838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1E3A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+1 ESCENARIOS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15949" y="2481290"/>
            <a:ext cx="1628380" cy="551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70"/>
              </a:lnSpc>
              <a:buNone/>
            </a:pPr>
            <a:r>
              <a:rPr lang="en-US" sz="1800" dirty="0">
                <a:solidFill>
                  <a:srgbClr val="0F1712"/>
                </a:solidFill>
                <a:latin typeface="Fraunces" pitchFamily="18" charset="0"/>
                <a:ea typeface="Fraunces" pitchFamily="18" charset="-122"/>
                <a:cs typeface="Fraunces" pitchFamily="18" charset="-120"/>
              </a:rPr>
              <a:t>¿Para qué existe?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15949" y="3108641"/>
            <a:ext cx="162838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E3A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Casos de uso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015949" y="5117836"/>
            <a:ext cx="1577580" cy="0"/>
          </a:xfrm>
          <a:prstGeom prst="line">
            <a:avLst/>
          </a:prstGeom>
          <a:noFill/>
          <a:ln w="12700">
            <a:solidFill>
              <a:srgbClr val="6E9A4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15949" y="5222348"/>
            <a:ext cx="1628380" cy="3810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800" b="1" dirty="0">
                <a:solidFill>
                  <a:srgbClr val="0F1712"/>
                </a:solidFill>
                <a:latin typeface="Fraunces" pitchFamily="18" charset="0"/>
                <a:ea typeface="Fraunces" pitchFamily="18" charset="-122"/>
                <a:cs typeface="Fraunces" pitchFamily="18" charset="-120"/>
              </a:rPr>
              <a:t>4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1015949" y="5603339"/>
            <a:ext cx="162838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E3A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1a – 1d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952261" y="1941023"/>
            <a:ext cx="1986928" cy="4100996"/>
          </a:xfrm>
          <a:prstGeom prst="roundRect">
            <a:avLst>
              <a:gd name="adj" fmla="val 7510"/>
            </a:avLst>
          </a:prstGeom>
          <a:solidFill>
            <a:srgbClr val="16241B"/>
          </a:solidFill>
          <a:ln w="6350">
            <a:solidFill>
              <a:srgbClr val="24362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156899" y="2171021"/>
            <a:ext cx="162845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9DCB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LÓGICA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156899" y="2485929"/>
            <a:ext cx="1628453" cy="2882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70"/>
              </a:lnSpc>
              <a:buNone/>
            </a:pPr>
            <a:r>
              <a:rPr lang="en-US" sz="1800" dirty="0">
                <a:solidFill>
                  <a:srgbClr val="F3EEE3"/>
                </a:solidFill>
                <a:latin typeface="Fraunces" pitchFamily="18" charset="0"/>
                <a:ea typeface="Fraunces" pitchFamily="18" charset="-122"/>
                <a:cs typeface="Fraunces" pitchFamily="18" charset="-120"/>
              </a:rPr>
              <a:t>¿Qué ofrece?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3156899" y="2850400"/>
            <a:ext cx="1628453" cy="4520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FC7B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Clases, secuencia y comunicación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156899" y="5114661"/>
            <a:ext cx="1577653" cy="0"/>
          </a:xfrm>
          <a:prstGeom prst="line">
            <a:avLst/>
          </a:prstGeom>
          <a:noFill/>
          <a:ln w="6350">
            <a:solidFill>
              <a:srgbClr val="33443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156899" y="5217709"/>
            <a:ext cx="1628453" cy="3810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800" b="1" dirty="0">
                <a:solidFill>
                  <a:srgbClr val="F3EEE3"/>
                </a:solidFill>
                <a:latin typeface="Fraunces" pitchFamily="18" charset="0"/>
                <a:ea typeface="Fraunces" pitchFamily="18" charset="-122"/>
                <a:cs typeface="Fraunces" pitchFamily="18" charset="-120"/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3156899" y="5598700"/>
            <a:ext cx="162845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E99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2a – 2d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097921" y="1941023"/>
            <a:ext cx="1986856" cy="4100996"/>
          </a:xfrm>
          <a:prstGeom prst="roundRect">
            <a:avLst>
              <a:gd name="adj" fmla="val 7511"/>
            </a:avLst>
          </a:prstGeom>
          <a:solidFill>
            <a:srgbClr val="16241B"/>
          </a:solidFill>
          <a:ln w="6350">
            <a:solidFill>
              <a:srgbClr val="24362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302559" y="2171021"/>
            <a:ext cx="162838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9DCB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DESARROLLO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302559" y="2485929"/>
            <a:ext cx="1628380" cy="8140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70"/>
              </a:lnSpc>
              <a:buNone/>
            </a:pPr>
            <a:r>
              <a:rPr lang="en-US" sz="1800" dirty="0">
                <a:solidFill>
                  <a:srgbClr val="F3EEE3"/>
                </a:solidFill>
                <a:latin typeface="Fraunces" pitchFamily="18" charset="0"/>
                <a:ea typeface="Fraunces" pitchFamily="18" charset="-122"/>
                <a:cs typeface="Fraunces" pitchFamily="18" charset="-120"/>
              </a:rPr>
              <a:t>¿Cómo se organiza el código?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5302559" y="3376163"/>
            <a:ext cx="1628380" cy="4520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FC7B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Componentes y paquetes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302559" y="5114661"/>
            <a:ext cx="1577580" cy="0"/>
          </a:xfrm>
          <a:prstGeom prst="line">
            <a:avLst/>
          </a:prstGeom>
          <a:noFill/>
          <a:ln w="6350">
            <a:solidFill>
              <a:srgbClr val="33443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302559" y="5217709"/>
            <a:ext cx="1628380" cy="3810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800" b="1" dirty="0">
                <a:solidFill>
                  <a:srgbClr val="F3EEE3"/>
                </a:solidFill>
                <a:latin typeface="Fraunces" pitchFamily="18" charset="0"/>
                <a:ea typeface="Fraunces" pitchFamily="18" charset="-122"/>
                <a:cs typeface="Fraunces" pitchFamily="18" charset="-120"/>
              </a:rPr>
              <a:t>2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5302559" y="5598700"/>
            <a:ext cx="162838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E99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3a – 3b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7243508" y="1941023"/>
            <a:ext cx="1986928" cy="4100996"/>
          </a:xfrm>
          <a:prstGeom prst="roundRect">
            <a:avLst>
              <a:gd name="adj" fmla="val 7510"/>
            </a:avLst>
          </a:prstGeom>
          <a:solidFill>
            <a:srgbClr val="16241B"/>
          </a:solidFill>
          <a:ln w="6350">
            <a:solidFill>
              <a:srgbClr val="24362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448146" y="2171021"/>
            <a:ext cx="162845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9DCB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PROCESOS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7448146" y="2485929"/>
            <a:ext cx="1628453" cy="8140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70"/>
              </a:lnSpc>
              <a:buNone/>
            </a:pPr>
            <a:r>
              <a:rPr lang="en-US" sz="1800" dirty="0">
                <a:solidFill>
                  <a:srgbClr val="F3EEE3"/>
                </a:solidFill>
                <a:latin typeface="Fraunces" pitchFamily="18" charset="0"/>
                <a:ea typeface="Fraunces" pitchFamily="18" charset="-122"/>
                <a:cs typeface="Fraunces" pitchFamily="18" charset="-120"/>
              </a:rPr>
              <a:t>¿Cómo se comporta en ejecución?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7448146" y="3376163"/>
            <a:ext cx="1628453" cy="4520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FC7B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Diagramas de actividad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7448146" y="5114661"/>
            <a:ext cx="1577653" cy="0"/>
          </a:xfrm>
          <a:prstGeom prst="line">
            <a:avLst/>
          </a:prstGeom>
          <a:noFill/>
          <a:ln w="6350">
            <a:solidFill>
              <a:srgbClr val="33443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448146" y="5217709"/>
            <a:ext cx="1628453" cy="3810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800" b="1" dirty="0">
                <a:solidFill>
                  <a:srgbClr val="F3EEE3"/>
                </a:solidFill>
                <a:latin typeface="Fraunces" pitchFamily="18" charset="0"/>
                <a:ea typeface="Fraunces" pitchFamily="18" charset="-122"/>
                <a:cs typeface="Fraunces" pitchFamily="18" charset="-120"/>
              </a:rPr>
              <a:t>2</a:t>
            </a:r>
            <a:endParaRPr lang="en-US" sz="2800" dirty="0"/>
          </a:p>
        </p:txBody>
      </p:sp>
      <p:sp>
        <p:nvSpPr>
          <p:cNvPr id="33" name="Text 31"/>
          <p:cNvSpPr/>
          <p:nvPr/>
        </p:nvSpPr>
        <p:spPr>
          <a:xfrm>
            <a:off x="7448146" y="5598700"/>
            <a:ext cx="162845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E99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4a – 4b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9389168" y="1941023"/>
            <a:ext cx="1986856" cy="4100996"/>
          </a:xfrm>
          <a:prstGeom prst="roundRect">
            <a:avLst>
              <a:gd name="adj" fmla="val 7511"/>
            </a:avLst>
          </a:prstGeom>
          <a:solidFill>
            <a:srgbClr val="16241B"/>
          </a:solidFill>
          <a:ln w="6350">
            <a:solidFill>
              <a:srgbClr val="24362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593806" y="2171021"/>
            <a:ext cx="162838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9DCB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FÍSICA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9593806" y="2485929"/>
            <a:ext cx="1628380" cy="551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70"/>
              </a:lnSpc>
              <a:buNone/>
            </a:pPr>
            <a:r>
              <a:rPr lang="en-US" sz="1800" dirty="0">
                <a:solidFill>
                  <a:srgbClr val="F3EEE3"/>
                </a:solidFill>
                <a:latin typeface="Fraunces" pitchFamily="18" charset="0"/>
                <a:ea typeface="Fraunces" pitchFamily="18" charset="-122"/>
                <a:cs typeface="Fraunces" pitchFamily="18" charset="-120"/>
              </a:rPr>
              <a:t>¿Dónde se ejecuta?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9593806" y="3113280"/>
            <a:ext cx="1628380" cy="4520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FC7B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Diagrama de despliegue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9593806" y="5114661"/>
            <a:ext cx="1577580" cy="0"/>
          </a:xfrm>
          <a:prstGeom prst="line">
            <a:avLst/>
          </a:prstGeom>
          <a:noFill/>
          <a:ln w="6350">
            <a:solidFill>
              <a:srgbClr val="33443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593806" y="5217709"/>
            <a:ext cx="1628380" cy="3810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800" b="1" dirty="0">
                <a:solidFill>
                  <a:srgbClr val="F3EEE3"/>
                </a:solidFill>
                <a:latin typeface="Fraunces" pitchFamily="18" charset="0"/>
                <a:ea typeface="Fraunces" pitchFamily="18" charset="-122"/>
                <a:cs typeface="Fraunces" pitchFamily="18" charset="-120"/>
              </a:rPr>
              <a:t>1</a:t>
            </a:r>
            <a:endParaRPr lang="en-US" sz="2800" dirty="0"/>
          </a:p>
        </p:txBody>
      </p:sp>
      <p:sp>
        <p:nvSpPr>
          <p:cNvPr id="40" name="Text 38"/>
          <p:cNvSpPr/>
          <p:nvPr/>
        </p:nvSpPr>
        <p:spPr>
          <a:xfrm>
            <a:off x="9593806" y="5598700"/>
            <a:ext cx="162838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E99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5a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Ubicación en el modelo 4+1: vista de escenarios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09599" y="609597"/>
            <a:ext cx="457145" cy="304763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93692" y="655318"/>
            <a:ext cx="348047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300" kern="0" dirty="0">
                <a:solidFill>
                  <a:srgbClr val="9DCB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VISTA DE ESCENARIOS · 1a</a:t>
            </a:r>
            <a:endParaRPr lang="en-US" sz="1200" dirty="0"/>
          </a:p>
        </p:txBody>
      </p:sp>
      <p:sp>
        <p:nvSpPr>
          <p:cNvPr id="4" name="Text 1"/>
          <p:cNvSpPr/>
          <p:nvPr>
            <p:ph type="title"/>
          </p:nvPr>
        </p:nvSpPr>
        <p:spPr>
          <a:xfrm>
            <a:off x="609599" y="1015947"/>
            <a:ext cx="3589022" cy="4165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800" b="1" i="0" spc="-50" kern="0" dirty="0">
                <a:solidFill>
                  <a:srgbClr val="F3EEE3"/>
                </a:solidFill>
                <a:latin typeface="Fraunces" pitchFamily="18" charset="0"/>
                <a:ea typeface="Fraunces" pitchFamily="18" charset="-122"/>
                <a:cs typeface="Fraunces" pitchFamily="18" charset="-120"/>
              </a:rPr>
              <a:t>Casos de uso </a:t>
            </a:r>
            <a:r>
              <a:rPr lang="en-US" sz="2800" b="1" i="1" spc="-50" kern="0" dirty="0">
                <a:solidFill>
                  <a:srgbClr val="9DCB6A"/>
                </a:solidFill>
                <a:latin typeface="Fraunces" pitchFamily="18" charset="0"/>
                <a:ea typeface="Fraunces" pitchFamily="18" charset="-122"/>
                <a:cs typeface="Fraunces" pitchFamily="18" charset="-120"/>
              </a:rPr>
              <a:t>general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7772401" y="980442"/>
            <a:ext cx="3924272" cy="4520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3EEE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 casos de uso y 3 roles</a:t>
            </a:r>
            <a:r>
              <a:rPr lang="en-US" sz="1200" dirty="0">
                <a:solidFill>
                  <a:srgbClr val="BFC7B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que heredan de Usuario autenticado; todos entran con Google o Microsoft.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609599" y="1584824"/>
            <a:ext cx="10972776" cy="4663542"/>
          </a:xfrm>
          <a:prstGeom prst="roundRect">
            <a:avLst>
              <a:gd name="adj" fmla="val 2723"/>
            </a:avLst>
          </a:prstGeom>
          <a:solidFill>
            <a:srgbClr val="FFFFFF"/>
          </a:solidFill>
          <a:ln/>
        </p:spPr>
      </p:sp>
      <p:pic>
        <p:nvPicPr>
          <p:cNvPr id="7" name="Image 1" descr="Diagrama de casos de uso general de RecyTrack">    </p:cNvPr>
          <p:cNvPicPr>
            <a:picLocks noChangeAspect="1"/>
          </p:cNvPicPr>
          <p:nvPr/>
        </p:nvPicPr>
        <p:blipFill>
          <a:blip r:embed="rId2"/>
          <a:srcRect l="-29835" r="-29835" t="0" b="0"/>
          <a:stretch/>
        </p:blipFill>
        <p:spPr>
          <a:xfrm>
            <a:off x="761980" y="1821114"/>
            <a:ext cx="10667940" cy="41909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Ubicación en el modelo 4+1: vista de escenarios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09599" y="609597"/>
            <a:ext cx="457145" cy="304763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93692" y="655321"/>
            <a:ext cx="348960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300" kern="0" dirty="0">
                <a:solidFill>
                  <a:srgbClr val="9DCB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VISTA DE ESCENARIOS · 1b</a:t>
            </a:r>
            <a:endParaRPr lang="en-US" sz="1200" dirty="0"/>
          </a:p>
        </p:txBody>
      </p:sp>
      <p:sp>
        <p:nvSpPr>
          <p:cNvPr id="4" name="Text 1"/>
          <p:cNvSpPr/>
          <p:nvPr>
            <p:ph type="title"/>
          </p:nvPr>
        </p:nvSpPr>
        <p:spPr>
          <a:xfrm>
            <a:off x="609599" y="1015950"/>
            <a:ext cx="4899860" cy="4165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800" b="1" i="0" spc="-50" kern="0" dirty="0">
                <a:solidFill>
                  <a:srgbClr val="F3EEE3"/>
                </a:solidFill>
                <a:latin typeface="Fraunces" pitchFamily="18" charset="0"/>
                <a:ea typeface="Fraunces" pitchFamily="18" charset="-122"/>
                <a:cs typeface="Fraunces" pitchFamily="18" charset="-120"/>
              </a:rPr>
              <a:t>Casos de uso: </a:t>
            </a:r>
            <a:r>
              <a:rPr lang="en-US" sz="2800" b="1" i="1" spc="-50" kern="0" dirty="0">
                <a:solidFill>
                  <a:srgbClr val="9DCB6A"/>
                </a:solidFill>
                <a:latin typeface="Fraunces" pitchFamily="18" charset="0"/>
                <a:ea typeface="Fraunces" pitchFamily="18" charset="-122"/>
                <a:cs typeface="Fraunces" pitchFamily="18" charset="-120"/>
              </a:rPr>
              <a:t>colaborador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7772401" y="980442"/>
            <a:ext cx="3924272" cy="4520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3EEE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Registra su depósito</a:t>
            </a:r>
            <a:r>
              <a:rPr lang="en-US" sz="1200" dirty="0">
                <a:solidFill>
                  <a:srgbClr val="BFC7B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(CU-02) y consulta su avance, el ranking del área y su certificado (CU-03).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609599" y="1584824"/>
            <a:ext cx="10972776" cy="4663542"/>
          </a:xfrm>
          <a:prstGeom prst="roundRect">
            <a:avLst>
              <a:gd name="adj" fmla="val 2723"/>
            </a:avLst>
          </a:prstGeom>
          <a:solidFill>
            <a:srgbClr val="FFFFFF"/>
          </a:solidFill>
          <a:ln/>
        </p:spPr>
      </p:sp>
      <p:pic>
        <p:nvPicPr>
          <p:cNvPr id="7" name="Image 1" descr="Diagrama de casos de uso del colaborador">    </p:cNvPr>
          <p:cNvPicPr>
            <a:picLocks noChangeAspect="1"/>
          </p:cNvPicPr>
          <p:nvPr/>
        </p:nvPicPr>
        <p:blipFill>
          <a:blip r:embed="rId2"/>
          <a:srcRect l="-20151" r="-20151" t="0" b="0"/>
          <a:stretch/>
        </p:blipFill>
        <p:spPr>
          <a:xfrm>
            <a:off x="761980" y="1821114"/>
            <a:ext cx="10667940" cy="41909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Ubicación en el modelo 4+1: vista de escenarios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09599" y="609600"/>
            <a:ext cx="457145" cy="304763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93692" y="655321"/>
            <a:ext cx="348203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300" kern="0" dirty="0">
                <a:solidFill>
                  <a:srgbClr val="9DCB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VISTA DE ESCENARIOS · 1c</a:t>
            </a:r>
            <a:endParaRPr lang="en-US" sz="1200" dirty="0"/>
          </a:p>
        </p:txBody>
      </p:sp>
      <p:sp>
        <p:nvSpPr>
          <p:cNvPr id="4" name="Text 1"/>
          <p:cNvSpPr/>
          <p:nvPr>
            <p:ph type="title"/>
          </p:nvPr>
        </p:nvSpPr>
        <p:spPr>
          <a:xfrm>
            <a:off x="609599" y="1015950"/>
            <a:ext cx="4375546" cy="4165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800" b="1" i="0" spc="-50" kern="0" dirty="0">
                <a:solidFill>
                  <a:srgbClr val="F3EEE3"/>
                </a:solidFill>
                <a:latin typeface="Fraunces" pitchFamily="18" charset="0"/>
                <a:ea typeface="Fraunces" pitchFamily="18" charset="-122"/>
                <a:cs typeface="Fraunces" pitchFamily="18" charset="-120"/>
              </a:rPr>
              <a:t>Casos de uso: </a:t>
            </a:r>
            <a:r>
              <a:rPr lang="en-US" sz="2800" b="1" i="1" spc="-50" kern="0" dirty="0">
                <a:solidFill>
                  <a:srgbClr val="9DCB6A"/>
                </a:solidFill>
                <a:latin typeface="Fraunces" pitchFamily="18" charset="0"/>
                <a:ea typeface="Fraunces" pitchFamily="18" charset="-122"/>
                <a:cs typeface="Fraunces" pitchFamily="18" charset="-120"/>
              </a:rPr>
              <a:t>validador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7772401" y="980442"/>
            <a:ext cx="3924272" cy="4520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3EEE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Una sola tarea:</a:t>
            </a:r>
            <a:r>
              <a:rPr lang="en-US" sz="1200" dirty="0">
                <a:solidFill>
                  <a:srgbClr val="BFC7B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la ronda diaria de validación (CU-04), contenedor por contenedor.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609599" y="1584827"/>
            <a:ext cx="10972776" cy="4663542"/>
          </a:xfrm>
          <a:prstGeom prst="roundRect">
            <a:avLst>
              <a:gd name="adj" fmla="val 2723"/>
            </a:avLst>
          </a:prstGeom>
          <a:solidFill>
            <a:srgbClr val="FFFFFF"/>
          </a:solidFill>
          <a:ln/>
        </p:spPr>
      </p:sp>
      <p:pic>
        <p:nvPicPr>
          <p:cNvPr id="7" name="Image 1" descr="Diagrama de casos de uso del validador">    </p:cNvPr>
          <p:cNvPicPr>
            <a:picLocks noChangeAspect="1"/>
          </p:cNvPicPr>
          <p:nvPr/>
        </p:nvPicPr>
        <p:blipFill>
          <a:blip r:embed="rId2"/>
          <a:srcRect l="-10401" r="-10401" t="0" b="0"/>
          <a:stretch/>
        </p:blipFill>
        <p:spPr>
          <a:xfrm>
            <a:off x="761980" y="1821117"/>
            <a:ext cx="10667940" cy="419096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Ubicación en el modelo 4+1: vista de escenarios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09599" y="609594"/>
            <a:ext cx="457145" cy="304763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93692" y="655321"/>
            <a:ext cx="348960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300" kern="0" dirty="0">
                <a:solidFill>
                  <a:srgbClr val="9DCB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VISTA DE ESCENARIOS · 1d</a:t>
            </a:r>
            <a:endParaRPr lang="en-US" sz="1200" dirty="0"/>
          </a:p>
        </p:txBody>
      </p:sp>
      <p:sp>
        <p:nvSpPr>
          <p:cNvPr id="4" name="Text 1"/>
          <p:cNvSpPr/>
          <p:nvPr>
            <p:ph type="title"/>
          </p:nvPr>
        </p:nvSpPr>
        <p:spPr>
          <a:xfrm>
            <a:off x="609599" y="1015950"/>
            <a:ext cx="5317051" cy="4165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800" b="1" i="0" spc="-50" kern="0" dirty="0">
                <a:solidFill>
                  <a:srgbClr val="F3EEE3"/>
                </a:solidFill>
                <a:latin typeface="Fraunces" pitchFamily="18" charset="0"/>
                <a:ea typeface="Fraunces" pitchFamily="18" charset="-122"/>
                <a:cs typeface="Fraunces" pitchFamily="18" charset="-120"/>
              </a:rPr>
              <a:t>Casos de uso: </a:t>
            </a:r>
            <a:r>
              <a:rPr lang="en-US" sz="2800" b="1" i="1" spc="-50" kern="0" dirty="0">
                <a:solidFill>
                  <a:srgbClr val="9DCB6A"/>
                </a:solidFill>
                <a:latin typeface="Fraunces" pitchFamily="18" charset="0"/>
                <a:ea typeface="Fraunces" pitchFamily="18" charset="-122"/>
                <a:cs typeface="Fraunces" pitchFamily="18" charset="-120"/>
              </a:rPr>
              <a:t>administrador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7772401" y="767122"/>
            <a:ext cx="3924272" cy="6653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3EEE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Administra la planta</a:t>
            </a:r>
            <a:r>
              <a:rPr lang="en-US" sz="1200" dirty="0">
                <a:solidFill>
                  <a:srgbClr val="BFC7B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(CU-05), registra el retiro y certifica (CU-06) y genera el reporte mensual (CU-07).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609599" y="1584821"/>
            <a:ext cx="10972776" cy="4663542"/>
          </a:xfrm>
          <a:prstGeom prst="roundRect">
            <a:avLst>
              <a:gd name="adj" fmla="val 2723"/>
            </a:avLst>
          </a:prstGeom>
          <a:solidFill>
            <a:srgbClr val="FFFFFF"/>
          </a:solidFill>
          <a:ln/>
        </p:spPr>
      </p:sp>
      <p:pic>
        <p:nvPicPr>
          <p:cNvPr id="7" name="Image 1" descr="Diagrama de casos de uso del administrador de planta">    </p:cNvPr>
          <p:cNvPicPr>
            <a:picLocks noChangeAspect="1"/>
          </p:cNvPicPr>
          <p:nvPr/>
        </p:nvPicPr>
        <p:blipFill>
          <a:blip r:embed="rId2"/>
          <a:srcRect l="-36287" r="-36287" t="0" b="0"/>
          <a:stretch/>
        </p:blipFill>
        <p:spPr>
          <a:xfrm>
            <a:off x="761980" y="1821111"/>
            <a:ext cx="10667940" cy="419096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Ubicación en el modelo 4+1: vista lógica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09599" y="609600"/>
            <a:ext cx="457145" cy="304763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93692" y="655321"/>
            <a:ext cx="182344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300" kern="0" dirty="0">
                <a:solidFill>
                  <a:srgbClr val="9DCB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VISTA LÓGICA</a:t>
            </a:r>
            <a:endParaRPr lang="en-US" sz="1200" dirty="0"/>
          </a:p>
        </p:txBody>
      </p:sp>
      <p:sp>
        <p:nvSpPr>
          <p:cNvPr id="4" name="Text 1"/>
          <p:cNvSpPr/>
          <p:nvPr>
            <p:ph type="title"/>
          </p:nvPr>
        </p:nvSpPr>
        <p:spPr>
          <a:xfrm>
            <a:off x="609599" y="1092107"/>
            <a:ext cx="3662610" cy="8788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3200" b="1" i="0" spc="-50" kern="0" dirty="0">
                <a:solidFill>
                  <a:srgbClr val="F3EEE3"/>
                </a:solidFill>
                <a:latin typeface="Fraunces" pitchFamily="18" charset="0"/>
                <a:ea typeface="Fraunces" pitchFamily="18" charset="-122"/>
                <a:cs typeface="Fraunces" pitchFamily="18" charset="-120"/>
              </a:rPr>
              <a:t>Clases del</a:t>
            </a:r>
            <a:endParaRPr lang="en-US" sz="3200" dirty="0"/>
          </a:p>
          <a:p>
            <a:pPr algn="l" indent="0" marL="0">
              <a:lnSpc>
                <a:spcPts val="3360"/>
              </a:lnSpc>
              <a:buNone/>
            </a:pPr>
            <a:r>
              <a:rPr lang="en-US" sz="3200" b="1" i="1" spc="-50" kern="0" dirty="0">
                <a:solidFill>
                  <a:srgbClr val="9DCB6A"/>
                </a:solidFill>
                <a:latin typeface="Fraunces" pitchFamily="18" charset="0"/>
                <a:ea typeface="Fraunces" pitchFamily="18" charset="-122"/>
                <a:cs typeface="Fraunces" pitchFamily="18" charset="-120"/>
              </a:rPr>
              <a:t>dominio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619124" y="2123269"/>
            <a:ext cx="0" cy="957547"/>
          </a:xfrm>
          <a:prstGeom prst="line">
            <a:avLst/>
          </a:prstGeom>
          <a:noFill/>
          <a:ln w="19050">
            <a:solidFill>
              <a:srgbClr val="9DCB6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55097" y="2123269"/>
            <a:ext cx="351274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E99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2a · Diagrama de clases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755097" y="2387383"/>
            <a:ext cx="2053673" cy="7188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b="1" dirty="0">
                <a:solidFill>
                  <a:srgbClr val="F3EEE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 Planta organiza todo; el Registro es el depósito y su estado.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3286963" y="609600"/>
            <a:ext cx="8301715" cy="6071930"/>
          </a:xfrm>
          <a:prstGeom prst="roundRect">
            <a:avLst>
              <a:gd name="adj" fmla="val 2092"/>
            </a:avLst>
          </a:prstGeom>
          <a:solidFill>
            <a:srgbClr val="FFFFFF"/>
          </a:solidFill>
          <a:ln/>
        </p:spPr>
      </p:sp>
      <p:pic>
        <p:nvPicPr>
          <p:cNvPr id="9" name="Image 1" descr="Diagrama de clases del dominio de RecyTrack">    </p:cNvPr>
          <p:cNvPicPr>
            <a:picLocks noChangeAspect="1"/>
          </p:cNvPicPr>
          <p:nvPr/>
        </p:nvPicPr>
        <p:blipFill>
          <a:blip r:embed="rId2"/>
          <a:srcRect l="-10771" r="-10771" t="0" b="0"/>
          <a:stretch/>
        </p:blipFill>
        <p:spPr>
          <a:xfrm>
            <a:off x="4034234" y="978564"/>
            <a:ext cx="6807173" cy="5333934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Ubicación en el modelo 4+1: vista lógica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09599" y="609600"/>
            <a:ext cx="457145" cy="304763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93692" y="655321"/>
            <a:ext cx="182344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300" kern="0" dirty="0">
                <a:solidFill>
                  <a:srgbClr val="9DCB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VISTA LÓGICA</a:t>
            </a:r>
            <a:endParaRPr lang="en-US" sz="1200" dirty="0"/>
          </a:p>
        </p:txBody>
      </p:sp>
      <p:sp>
        <p:nvSpPr>
          <p:cNvPr id="4" name="Text 1"/>
          <p:cNvSpPr/>
          <p:nvPr>
            <p:ph type="title"/>
          </p:nvPr>
        </p:nvSpPr>
        <p:spPr>
          <a:xfrm>
            <a:off x="609599" y="1092101"/>
            <a:ext cx="3662610" cy="8788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3200" b="1" i="0" spc="-50" kern="0" dirty="0">
                <a:solidFill>
                  <a:srgbClr val="F3EEE3"/>
                </a:solidFill>
                <a:latin typeface="Fraunces" pitchFamily="18" charset="0"/>
                <a:ea typeface="Fraunces" pitchFamily="18" charset="-122"/>
                <a:cs typeface="Fraunces" pitchFamily="18" charset="-120"/>
              </a:rPr>
              <a:t>Secuencia:</a:t>
            </a:r>
            <a:endParaRPr lang="en-US" sz="3200" dirty="0"/>
          </a:p>
          <a:p>
            <a:pPr algn="l" indent="0" marL="0">
              <a:lnSpc>
                <a:spcPts val="3360"/>
              </a:lnSpc>
              <a:buNone/>
            </a:pPr>
            <a:r>
              <a:rPr lang="en-US" sz="3200" b="1" i="1" spc="-50" kern="0" dirty="0">
                <a:solidFill>
                  <a:srgbClr val="9DCB6A"/>
                </a:solidFill>
                <a:latin typeface="Fraunces" pitchFamily="18" charset="0"/>
                <a:ea typeface="Fraunces" pitchFamily="18" charset="-122"/>
                <a:cs typeface="Fraunces" pitchFamily="18" charset="-120"/>
              </a:rPr>
              <a:t>depósito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619124" y="2123269"/>
            <a:ext cx="0" cy="726403"/>
          </a:xfrm>
          <a:prstGeom prst="line">
            <a:avLst/>
          </a:prstGeom>
          <a:noFill/>
          <a:ln w="19050">
            <a:solidFill>
              <a:srgbClr val="9DCB6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55097" y="2123269"/>
            <a:ext cx="351274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E99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2b · Diagrama de secuencia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755097" y="2387383"/>
            <a:ext cx="3512747" cy="4876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b="1" dirty="0">
                <a:solidFill>
                  <a:srgbClr val="F3EEE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Del escaneo del QR a un registro pendiente.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3635637" y="609600"/>
            <a:ext cx="7953042" cy="5945199"/>
          </a:xfrm>
          <a:prstGeom prst="roundRect">
            <a:avLst>
              <a:gd name="adj" fmla="val 2136"/>
            </a:avLst>
          </a:prstGeom>
          <a:solidFill>
            <a:srgbClr val="FFFFFF"/>
          </a:solidFill>
          <a:ln/>
        </p:spPr>
      </p:sp>
      <p:pic>
        <p:nvPicPr>
          <p:cNvPr id="9" name="Image 1" descr="Diagrama de secuencia: registrar depósito">    </p:cNvPr>
          <p:cNvPicPr>
            <a:picLocks noChangeAspect="1"/>
          </p:cNvPicPr>
          <p:nvPr/>
        </p:nvPicPr>
        <p:blipFill>
          <a:blip r:embed="rId2"/>
          <a:srcRect l="0" r="0" t="-1578" b="-1578"/>
          <a:stretch/>
        </p:blipFill>
        <p:spPr>
          <a:xfrm>
            <a:off x="4208571" y="915231"/>
            <a:ext cx="6807173" cy="5333934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7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Ubicación en el modelo 4+1: vista lógica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09599" y="609594"/>
            <a:ext cx="457145" cy="304763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93692" y="655315"/>
            <a:ext cx="182344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300" kern="0" dirty="0">
                <a:solidFill>
                  <a:srgbClr val="9DCB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VISTA LÓGICA</a:t>
            </a:r>
            <a:endParaRPr lang="en-US" sz="1200" dirty="0"/>
          </a:p>
        </p:txBody>
      </p:sp>
      <p:sp>
        <p:nvSpPr>
          <p:cNvPr id="4" name="Text 1"/>
          <p:cNvSpPr/>
          <p:nvPr>
            <p:ph type="title"/>
          </p:nvPr>
        </p:nvSpPr>
        <p:spPr>
          <a:xfrm>
            <a:off x="609599" y="1092101"/>
            <a:ext cx="3662610" cy="8788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3200" b="1" i="0" spc="-50" kern="0" dirty="0">
                <a:solidFill>
                  <a:srgbClr val="F3EEE3"/>
                </a:solidFill>
                <a:latin typeface="Fraunces" pitchFamily="18" charset="0"/>
                <a:ea typeface="Fraunces" pitchFamily="18" charset="-122"/>
                <a:cs typeface="Fraunces" pitchFamily="18" charset="-120"/>
              </a:rPr>
              <a:t>Secuencia:</a:t>
            </a:r>
            <a:endParaRPr lang="en-US" sz="3200" dirty="0"/>
          </a:p>
          <a:p>
            <a:pPr algn="l" indent="0" marL="0">
              <a:lnSpc>
                <a:spcPts val="3360"/>
              </a:lnSpc>
              <a:buNone/>
            </a:pPr>
            <a:r>
              <a:rPr lang="en-US" sz="3200" b="1" i="1" spc="-50" kern="0" dirty="0">
                <a:solidFill>
                  <a:srgbClr val="9DCB6A"/>
                </a:solidFill>
                <a:latin typeface="Fraunces" pitchFamily="18" charset="0"/>
                <a:ea typeface="Fraunces" pitchFamily="18" charset="-122"/>
                <a:cs typeface="Fraunces" pitchFamily="18" charset="-120"/>
              </a:rPr>
              <a:t>retiro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619124" y="2123269"/>
            <a:ext cx="0" cy="726403"/>
          </a:xfrm>
          <a:prstGeom prst="line">
            <a:avLst/>
          </a:prstGeom>
          <a:noFill/>
          <a:ln w="19050">
            <a:solidFill>
              <a:srgbClr val="9DCB6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55097" y="2123269"/>
            <a:ext cx="351274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E99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2c · Diagrama de secuencia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755097" y="2387383"/>
            <a:ext cx="2589986" cy="4876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b="1" dirty="0">
                <a:solidFill>
                  <a:srgbClr val="F3EEE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 retiro certifica los depósitos validados.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3783526" y="609594"/>
            <a:ext cx="7805152" cy="6103667"/>
          </a:xfrm>
          <a:prstGeom prst="roundRect">
            <a:avLst>
              <a:gd name="adj" fmla="val 2081"/>
            </a:avLst>
          </a:prstGeom>
          <a:solidFill>
            <a:srgbClr val="FFFFFF"/>
          </a:solidFill>
          <a:ln/>
        </p:spPr>
      </p:sp>
      <p:pic>
        <p:nvPicPr>
          <p:cNvPr id="9" name="Image 1" descr="Diagrama de secuencia: registrar retiro">    </p:cNvPr>
          <p:cNvPicPr>
            <a:picLocks noChangeAspect="1"/>
          </p:cNvPicPr>
          <p:nvPr/>
        </p:nvPicPr>
        <p:blipFill>
          <a:blip r:embed="rId2"/>
          <a:srcRect l="-5958" r="-5958" t="0" b="0"/>
          <a:stretch/>
        </p:blipFill>
        <p:spPr>
          <a:xfrm>
            <a:off x="4282479" y="994426"/>
            <a:ext cx="6807173" cy="5333934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7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Ubicación en el modelo 4+1: vista lógica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09599" y="609600"/>
            <a:ext cx="457145" cy="304763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93692" y="655321"/>
            <a:ext cx="243054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300" kern="0" dirty="0">
                <a:solidFill>
                  <a:srgbClr val="9DCB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VISTA LÓGICA · 2d</a:t>
            </a:r>
            <a:endParaRPr lang="en-US" sz="1200" dirty="0"/>
          </a:p>
        </p:txBody>
      </p:sp>
      <p:sp>
        <p:nvSpPr>
          <p:cNvPr id="4" name="Text 1"/>
          <p:cNvSpPr/>
          <p:nvPr>
            <p:ph type="title"/>
          </p:nvPr>
        </p:nvSpPr>
        <p:spPr>
          <a:xfrm>
            <a:off x="609599" y="1015950"/>
            <a:ext cx="4867601" cy="4165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800" b="1" i="0" spc="-50" kern="0" dirty="0">
                <a:solidFill>
                  <a:srgbClr val="F3EEE3"/>
                </a:solidFill>
                <a:latin typeface="Fraunces" pitchFamily="18" charset="0"/>
                <a:ea typeface="Fraunces" pitchFamily="18" charset="-122"/>
                <a:cs typeface="Fraunces" pitchFamily="18" charset="-120"/>
              </a:rPr>
              <a:t>Comunicación: </a:t>
            </a:r>
            <a:r>
              <a:rPr lang="en-US" sz="2800" b="1" i="1" spc="-50" kern="0" dirty="0">
                <a:solidFill>
                  <a:srgbClr val="9DCB6A"/>
                </a:solidFill>
                <a:latin typeface="Fraunces" pitchFamily="18" charset="0"/>
                <a:ea typeface="Fraunces" pitchFamily="18" charset="-122"/>
                <a:cs typeface="Fraunces" pitchFamily="18" charset="-120"/>
              </a:rPr>
              <a:t>validación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8026443" y="980449"/>
            <a:ext cx="3662610" cy="4520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3EEE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Los objetos que colaboran</a:t>
            </a:r>
            <a:r>
              <a:rPr lang="en-US" sz="1200" dirty="0">
                <a:solidFill>
                  <a:srgbClr val="BFC7B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cuando el validador marca un contenedor en su ronda.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609599" y="1584827"/>
            <a:ext cx="10972776" cy="4663542"/>
          </a:xfrm>
          <a:prstGeom prst="roundRect">
            <a:avLst>
              <a:gd name="adj" fmla="val 2723"/>
            </a:avLst>
          </a:prstGeom>
          <a:solidFill>
            <a:srgbClr val="FFFFFF"/>
          </a:solidFill>
          <a:ln/>
        </p:spPr>
      </p:sp>
      <p:pic>
        <p:nvPicPr>
          <p:cNvPr id="7" name="Image 1" descr="Diagrama de comunicación: validar contenedor">    </p:cNvPr>
          <p:cNvPicPr>
            <a:picLocks noChangeAspect="1"/>
          </p:cNvPicPr>
          <p:nvPr/>
        </p:nvPicPr>
        <p:blipFill>
          <a:blip r:embed="rId2"/>
          <a:srcRect l="-10000" r="-10000" t="0" b="0"/>
          <a:stretch/>
        </p:blipFill>
        <p:spPr>
          <a:xfrm>
            <a:off x="761980" y="1821117"/>
            <a:ext cx="10667940" cy="4190964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7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Ubicación en el modelo 4+1: vista de desarrollo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09599" y="609600"/>
            <a:ext cx="457145" cy="304763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93692" y="655321"/>
            <a:ext cx="355733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300" kern="0" dirty="0">
                <a:solidFill>
                  <a:srgbClr val="9DCB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VISTA DE DESARROLLO · 3a</a:t>
            </a:r>
            <a:endParaRPr lang="en-US" sz="1200" dirty="0"/>
          </a:p>
        </p:txBody>
      </p:sp>
      <p:sp>
        <p:nvSpPr>
          <p:cNvPr id="4" name="Text 1"/>
          <p:cNvSpPr/>
          <p:nvPr>
            <p:ph type="title"/>
          </p:nvPr>
        </p:nvSpPr>
        <p:spPr>
          <a:xfrm>
            <a:off x="609599" y="1015950"/>
            <a:ext cx="5060198" cy="4165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800" b="1" i="0" spc="-50" kern="0" dirty="0">
                <a:solidFill>
                  <a:srgbClr val="F3EEE3"/>
                </a:solidFill>
                <a:latin typeface="Fraunces" pitchFamily="18" charset="0"/>
                <a:ea typeface="Fraunces" pitchFamily="18" charset="-122"/>
                <a:cs typeface="Fraunces" pitchFamily="18" charset="-120"/>
              </a:rPr>
              <a:t>Diagrama de </a:t>
            </a:r>
            <a:r>
              <a:rPr lang="en-US" sz="2800" b="1" i="1" spc="-50" kern="0" dirty="0">
                <a:solidFill>
                  <a:srgbClr val="9DCB6A"/>
                </a:solidFill>
                <a:latin typeface="Fraunces" pitchFamily="18" charset="0"/>
                <a:ea typeface="Fraunces" pitchFamily="18" charset="-122"/>
                <a:cs typeface="Fraunces" pitchFamily="18" charset="-120"/>
              </a:rPr>
              <a:t>componentes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7772401" y="980442"/>
            <a:ext cx="3924272" cy="4520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3EEE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Dos subsistemas:</a:t>
            </a:r>
            <a:r>
              <a:rPr lang="en-US" sz="1200" dirty="0">
                <a:solidFill>
                  <a:srgbClr val="BFC7B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la App RecyTrack, una PWA en Expo + React Native, y Firebase en plan Spark.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609599" y="1584827"/>
            <a:ext cx="10972776" cy="4663542"/>
          </a:xfrm>
          <a:prstGeom prst="roundRect">
            <a:avLst>
              <a:gd name="adj" fmla="val 2723"/>
            </a:avLst>
          </a:prstGeom>
          <a:solidFill>
            <a:srgbClr val="FFFFFF"/>
          </a:solidFill>
          <a:ln/>
        </p:spPr>
      </p:sp>
      <p:pic>
        <p:nvPicPr>
          <p:cNvPr id="7" name="Image 1" descr="Diagrama de componentes de RecyTrack (UML 2.5)">    </p:cNvPr>
          <p:cNvPicPr>
            <a:picLocks noChangeAspect="1"/>
          </p:cNvPicPr>
          <p:nvPr/>
        </p:nvPicPr>
        <p:blipFill>
          <a:blip r:embed="rId2"/>
          <a:srcRect l="-21414" r="-21414" t="0" b="0"/>
          <a:stretch/>
        </p:blipFill>
        <p:spPr>
          <a:xfrm>
            <a:off x="761980" y="1821117"/>
            <a:ext cx="10667940" cy="4190964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17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Ubicación en el modelo 4+1: vista de desarrollo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09599" y="609600"/>
            <a:ext cx="457145" cy="304763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93692" y="655321"/>
            <a:ext cx="264265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300" kern="0" dirty="0">
                <a:solidFill>
                  <a:srgbClr val="9DCB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VISTA DE DESARROLLO</a:t>
            </a:r>
            <a:endParaRPr lang="en-US" sz="1200" dirty="0"/>
          </a:p>
        </p:txBody>
      </p:sp>
      <p:sp>
        <p:nvSpPr>
          <p:cNvPr id="4" name="Text 1"/>
          <p:cNvSpPr/>
          <p:nvPr>
            <p:ph type="title"/>
          </p:nvPr>
        </p:nvSpPr>
        <p:spPr>
          <a:xfrm>
            <a:off x="609599" y="1092107"/>
            <a:ext cx="3662610" cy="8788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3200" b="1" i="0" spc="-50" kern="0" dirty="0">
                <a:solidFill>
                  <a:srgbClr val="F3EEE3"/>
                </a:solidFill>
                <a:latin typeface="Fraunces" pitchFamily="18" charset="0"/>
                <a:ea typeface="Fraunces" pitchFamily="18" charset="-122"/>
                <a:cs typeface="Fraunces" pitchFamily="18" charset="-120"/>
              </a:rPr>
              <a:t>Diagrama de</a:t>
            </a:r>
            <a:endParaRPr lang="en-US" sz="3200" dirty="0"/>
          </a:p>
          <a:p>
            <a:pPr algn="l" indent="0" marL="0">
              <a:lnSpc>
                <a:spcPts val="3360"/>
              </a:lnSpc>
              <a:buNone/>
            </a:pPr>
            <a:r>
              <a:rPr lang="en-US" sz="3200" b="1" i="1" spc="-50" kern="0" dirty="0">
                <a:solidFill>
                  <a:srgbClr val="9DCB6A"/>
                </a:solidFill>
                <a:latin typeface="Fraunces" pitchFamily="18" charset="0"/>
                <a:ea typeface="Fraunces" pitchFamily="18" charset="-122"/>
                <a:cs typeface="Fraunces" pitchFamily="18" charset="-120"/>
              </a:rPr>
              <a:t>paquetes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619124" y="2123275"/>
            <a:ext cx="0" cy="726403"/>
          </a:xfrm>
          <a:prstGeom prst="line">
            <a:avLst/>
          </a:prstGeom>
          <a:noFill/>
          <a:ln w="19050">
            <a:solidFill>
              <a:srgbClr val="9DCB6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55097" y="2123275"/>
            <a:ext cx="227010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E99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3b · Diagrama de paquetes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755097" y="2387383"/>
            <a:ext cx="2270109" cy="4876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b="1" dirty="0">
                <a:solidFill>
                  <a:srgbClr val="F3EEE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 misma app, ordenada en tres capas.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3836348" y="609600"/>
            <a:ext cx="7752330" cy="6061423"/>
          </a:xfrm>
          <a:prstGeom prst="roundRect">
            <a:avLst>
              <a:gd name="adj" fmla="val 2095"/>
            </a:avLst>
          </a:prstGeom>
          <a:solidFill>
            <a:srgbClr val="FFFFFF"/>
          </a:solidFill>
          <a:ln/>
        </p:spPr>
      </p:sp>
      <p:pic>
        <p:nvPicPr>
          <p:cNvPr id="9" name="Image 1" descr="Diagrama de paquetes de RecyTrack">    </p:cNvPr>
          <p:cNvPicPr>
            <a:picLocks noChangeAspect="1"/>
          </p:cNvPicPr>
          <p:nvPr/>
        </p:nvPicPr>
        <p:blipFill>
          <a:blip r:embed="rId2"/>
          <a:srcRect l="0" r="0" t="-1759" b="-1759"/>
          <a:stretch/>
        </p:blipFill>
        <p:spPr>
          <a:xfrm>
            <a:off x="4308927" y="973348"/>
            <a:ext cx="6807173" cy="5333934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17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Ubicación en el modelo 4+1: vista de procesos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09599" y="609600"/>
            <a:ext cx="457145" cy="304763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93692" y="655315"/>
            <a:ext cx="2652961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300" kern="0" dirty="0">
                <a:solidFill>
                  <a:srgbClr val="9DCB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VISTA DE PROCESOS</a:t>
            </a:r>
            <a:endParaRPr lang="en-US" sz="1200" dirty="0"/>
          </a:p>
        </p:txBody>
      </p:sp>
      <p:sp>
        <p:nvSpPr>
          <p:cNvPr id="4" name="Text 1"/>
          <p:cNvSpPr/>
          <p:nvPr>
            <p:ph type="title"/>
          </p:nvPr>
        </p:nvSpPr>
        <p:spPr>
          <a:xfrm>
            <a:off x="609599" y="1092101"/>
            <a:ext cx="3662610" cy="8788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3200" b="1" i="0" spc="-50" kern="0" dirty="0">
                <a:solidFill>
                  <a:srgbClr val="F3EEE3"/>
                </a:solidFill>
                <a:latin typeface="Fraunces" pitchFamily="18" charset="0"/>
                <a:ea typeface="Fraunces" pitchFamily="18" charset="-122"/>
                <a:cs typeface="Fraunces" pitchFamily="18" charset="-120"/>
              </a:rPr>
              <a:t>Actividad:</a:t>
            </a:r>
            <a:endParaRPr lang="en-US" sz="3200" dirty="0"/>
          </a:p>
          <a:p>
            <a:pPr algn="l" indent="0" marL="0">
              <a:lnSpc>
                <a:spcPts val="3360"/>
              </a:lnSpc>
              <a:buNone/>
            </a:pPr>
            <a:r>
              <a:rPr lang="en-US" sz="3200" b="1" i="1" spc="-50" kern="0" dirty="0">
                <a:solidFill>
                  <a:srgbClr val="9DCB6A"/>
                </a:solidFill>
                <a:latin typeface="Fraunces" pitchFamily="18" charset="0"/>
                <a:ea typeface="Fraunces" pitchFamily="18" charset="-122"/>
                <a:cs typeface="Fraunces" pitchFamily="18" charset="-120"/>
              </a:rPr>
              <a:t>depósito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619124" y="2123269"/>
            <a:ext cx="0" cy="726403"/>
          </a:xfrm>
          <a:prstGeom prst="line">
            <a:avLst/>
          </a:prstGeom>
          <a:noFill/>
          <a:ln w="19050">
            <a:solidFill>
              <a:srgbClr val="9DCB6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55097" y="2123269"/>
            <a:ext cx="351274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E99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4a · Diagrama de actividad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755097" y="2387389"/>
            <a:ext cx="3512747" cy="4876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b="1" dirty="0">
                <a:solidFill>
                  <a:srgbClr val="F3EEE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Escanear, elegir la talla y confirmar: toma segundos.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470366" y="609600"/>
            <a:ext cx="7118312" cy="5945199"/>
          </a:xfrm>
          <a:prstGeom prst="roundRect">
            <a:avLst>
              <a:gd name="adj" fmla="val 2136"/>
            </a:avLst>
          </a:prstGeom>
          <a:solidFill>
            <a:srgbClr val="FFFFFF"/>
          </a:solidFill>
          <a:ln/>
        </p:spPr>
      </p:sp>
      <p:pic>
        <p:nvPicPr>
          <p:cNvPr id="9" name="Image 1" descr="Diagrama de actividad: registrar un depósito en el punto limpio">    </p:cNvPr>
          <p:cNvPicPr>
            <a:picLocks noChangeAspect="1"/>
          </p:cNvPicPr>
          <p:nvPr/>
        </p:nvPicPr>
        <p:blipFill>
          <a:blip r:embed="rId2"/>
          <a:srcRect l="-67274" r="-67274" t="0" b="0"/>
          <a:stretch/>
        </p:blipFill>
        <p:spPr>
          <a:xfrm>
            <a:off x="4165530" y="609600"/>
            <a:ext cx="7264390" cy="5803397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F17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Ubicación en el modelo 4+1: vista de procesos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09599" y="609600"/>
            <a:ext cx="457145" cy="304763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93692" y="655327"/>
            <a:ext cx="2652961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300" kern="0" dirty="0">
                <a:solidFill>
                  <a:srgbClr val="9DCB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VISTA DE PROCESOS</a:t>
            </a:r>
            <a:endParaRPr lang="en-US" sz="1200" dirty="0"/>
          </a:p>
        </p:txBody>
      </p:sp>
      <p:sp>
        <p:nvSpPr>
          <p:cNvPr id="4" name="Text 1"/>
          <p:cNvSpPr/>
          <p:nvPr>
            <p:ph type="title"/>
          </p:nvPr>
        </p:nvSpPr>
        <p:spPr>
          <a:xfrm>
            <a:off x="609599" y="1092113"/>
            <a:ext cx="3662610" cy="8788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3200" b="1" i="0" spc="-50" kern="0" dirty="0">
                <a:solidFill>
                  <a:srgbClr val="F3EEE3"/>
                </a:solidFill>
                <a:latin typeface="Fraunces" pitchFamily="18" charset="0"/>
                <a:ea typeface="Fraunces" pitchFamily="18" charset="-122"/>
                <a:cs typeface="Fraunces" pitchFamily="18" charset="-120"/>
              </a:rPr>
              <a:t>Actividad:</a:t>
            </a:r>
            <a:endParaRPr lang="en-US" sz="3200" dirty="0"/>
          </a:p>
          <a:p>
            <a:pPr algn="l" indent="0" marL="0">
              <a:lnSpc>
                <a:spcPts val="3360"/>
              </a:lnSpc>
              <a:buNone/>
            </a:pPr>
            <a:r>
              <a:rPr lang="en-US" sz="3200" b="1" i="1" spc="-50" kern="0" dirty="0">
                <a:solidFill>
                  <a:srgbClr val="9DCB6A"/>
                </a:solidFill>
                <a:latin typeface="Fraunces" pitchFamily="18" charset="0"/>
                <a:ea typeface="Fraunces" pitchFamily="18" charset="-122"/>
                <a:cs typeface="Fraunces" pitchFamily="18" charset="-120"/>
              </a:rPr>
              <a:t>ronda y retiro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619124" y="2123269"/>
            <a:ext cx="0" cy="726403"/>
          </a:xfrm>
          <a:prstGeom prst="line">
            <a:avLst/>
          </a:prstGeom>
          <a:noFill/>
          <a:ln w="19050">
            <a:solidFill>
              <a:srgbClr val="9DCB6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55097" y="2123269"/>
            <a:ext cx="351274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E99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4b · Diagrama de actividad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755097" y="2387389"/>
            <a:ext cx="3512747" cy="4876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b="1" dirty="0">
                <a:solidFill>
                  <a:srgbClr val="F3EEE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Validación, retiro y certificación, encadenados.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470366" y="609600"/>
            <a:ext cx="7118312" cy="6134100"/>
          </a:xfrm>
          <a:prstGeom prst="roundRect">
            <a:avLst>
              <a:gd name="adj" fmla="val 2070"/>
            </a:avLst>
          </a:prstGeom>
          <a:solidFill>
            <a:srgbClr val="FFFFFF"/>
          </a:solidFill>
          <a:ln/>
        </p:spPr>
      </p:sp>
      <p:pic>
        <p:nvPicPr>
          <p:cNvPr id="9" name="Image 1" descr="Diagrama de actividad: ronda de validación, retiro y certificación">    </p:cNvPr>
          <p:cNvPicPr>
            <a:picLocks noChangeAspect="1"/>
          </p:cNvPicPr>
          <p:nvPr/>
        </p:nvPicPr>
        <p:blipFill>
          <a:blip r:embed="rId2"/>
          <a:srcRect l="-20103" r="-20103" t="0" b="0"/>
          <a:stretch/>
        </p:blipFill>
        <p:spPr>
          <a:xfrm>
            <a:off x="4622748" y="609600"/>
            <a:ext cx="6807173" cy="5966502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F17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Ubicación en el modelo 4+1: vista física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09599" y="609600"/>
            <a:ext cx="457145" cy="304763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93692" y="655315"/>
            <a:ext cx="232080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300" kern="0" dirty="0">
                <a:solidFill>
                  <a:srgbClr val="9DCB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VISTA FÍSICA · 5a</a:t>
            </a:r>
            <a:endParaRPr lang="en-US" sz="1200" dirty="0"/>
          </a:p>
        </p:txBody>
      </p:sp>
      <p:sp>
        <p:nvSpPr>
          <p:cNvPr id="4" name="Text 1"/>
          <p:cNvSpPr/>
          <p:nvPr>
            <p:ph type="title"/>
          </p:nvPr>
        </p:nvSpPr>
        <p:spPr>
          <a:xfrm>
            <a:off x="609599" y="1015950"/>
            <a:ext cx="4524232" cy="4165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800" b="1" i="0" spc="-50" kern="0" dirty="0">
                <a:solidFill>
                  <a:srgbClr val="F3EEE3"/>
                </a:solidFill>
                <a:latin typeface="Fraunces" pitchFamily="18" charset="0"/>
                <a:ea typeface="Fraunces" pitchFamily="18" charset="-122"/>
                <a:cs typeface="Fraunces" pitchFamily="18" charset="-120"/>
              </a:rPr>
              <a:t>Diagrama de </a:t>
            </a:r>
            <a:r>
              <a:rPr lang="en-US" sz="2800" b="1" i="1" spc="-50" kern="0" dirty="0">
                <a:solidFill>
                  <a:srgbClr val="9DCB6A"/>
                </a:solidFill>
                <a:latin typeface="Fraunces" pitchFamily="18" charset="0"/>
                <a:ea typeface="Fraunces" pitchFamily="18" charset="-122"/>
                <a:cs typeface="Fraunces" pitchFamily="18" charset="-120"/>
              </a:rPr>
              <a:t>despliegue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7772401" y="767122"/>
            <a:ext cx="3924272" cy="6653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3EEE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Celular, navegador y nube:</a:t>
            </a:r>
            <a:r>
              <a:rPr lang="en-US" sz="1200" dirty="0">
                <a:solidFill>
                  <a:srgbClr val="BFC7B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todo por HTTPS a Firebase, sin servidores propios y con $0 de infraestructura.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609599" y="1584821"/>
            <a:ext cx="10972776" cy="4663542"/>
          </a:xfrm>
          <a:prstGeom prst="roundRect">
            <a:avLst>
              <a:gd name="adj" fmla="val 2723"/>
            </a:avLst>
          </a:prstGeom>
          <a:solidFill>
            <a:srgbClr val="FFFFFF"/>
          </a:solidFill>
          <a:ln/>
        </p:spPr>
      </p:sp>
      <p:pic>
        <p:nvPicPr>
          <p:cNvPr id="7" name="Image 1" descr="Diagrama de despliegue de RecyTrack">    </p:cNvPr>
          <p:cNvPicPr>
            <a:picLocks noChangeAspect="1"/>
          </p:cNvPicPr>
          <p:nvPr/>
        </p:nvPicPr>
        <p:blipFill>
          <a:blip r:embed="rId2"/>
          <a:srcRect l="-21020" r="-21020" t="0" b="0"/>
          <a:stretch/>
        </p:blipFill>
        <p:spPr>
          <a:xfrm>
            <a:off x="761980" y="1821111"/>
            <a:ext cx="10667940" cy="4190964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F17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937000"/>
            <a:ext cx="4571953" cy="4571953"/>
          </a:xfrm>
          <a:prstGeom prst="roundRect">
            <a:avLst>
              <a:gd name="adj" fmla="val 35556"/>
            </a:avLst>
          </a:prstGeom>
          <a:solidFill>
            <a:srgbClr val="131E17"/>
          </a:solidFill>
          <a:ln/>
        </p:spPr>
      </p:sp>
      <p:sp>
        <p:nvSpPr>
          <p:cNvPr id="3" name="Shape 1"/>
          <p:cNvSpPr/>
          <p:nvPr/>
        </p:nvSpPr>
        <p:spPr>
          <a:xfrm>
            <a:off x="812774" y="906748"/>
            <a:ext cx="355557" cy="25361"/>
          </a:xfrm>
          <a:prstGeom prst="roundRect">
            <a:avLst>
              <a:gd name="adj" fmla="val 49999"/>
            </a:avLst>
          </a:prstGeom>
          <a:solidFill>
            <a:srgbClr val="9DCB6A"/>
          </a:solidFill>
          <a:ln/>
        </p:spPr>
      </p:sp>
      <p:sp>
        <p:nvSpPr>
          <p:cNvPr id="4" name="Text 2"/>
          <p:cNvSpPr/>
          <p:nvPr/>
        </p:nvSpPr>
        <p:spPr>
          <a:xfrm>
            <a:off x="1295279" y="812775"/>
            <a:ext cx="419981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300" kern="0" dirty="0">
                <a:solidFill>
                  <a:srgbClr val="9DCB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PILOTAJE · DÓNDE Y CON QUIÉN</a:t>
            </a:r>
            <a:endParaRPr lang="en-US" sz="1200" dirty="0"/>
          </a:p>
        </p:txBody>
      </p:sp>
      <p:sp>
        <p:nvSpPr>
          <p:cNvPr id="5" name="Text 3"/>
          <p:cNvSpPr/>
          <p:nvPr>
            <p:ph type="title"/>
          </p:nvPr>
        </p:nvSpPr>
        <p:spPr>
          <a:xfrm>
            <a:off x="812774" y="1153046"/>
            <a:ext cx="10883418" cy="505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780"/>
              </a:lnSpc>
              <a:buNone/>
            </a:pPr>
            <a:r>
              <a:rPr lang="en-US" sz="3600" b="1" i="0" spc="-50" kern="0" dirty="0">
                <a:solidFill>
                  <a:srgbClr val="F3EEE3"/>
                </a:solidFill>
                <a:latin typeface="Fraunces" pitchFamily="18" charset="0"/>
                <a:ea typeface="Fraunces" pitchFamily="18" charset="-122"/>
                <a:cs typeface="Fraunces" pitchFamily="18" charset="-120"/>
              </a:rPr>
              <a:t>En la planta, </a:t>
            </a:r>
            <a:r>
              <a:rPr lang="en-US" sz="3600" b="1" i="1" spc="-50" kern="0" dirty="0">
                <a:solidFill>
                  <a:srgbClr val="9DCB6A"/>
                </a:solidFill>
                <a:latin typeface="Fraunces" pitchFamily="18" charset="0"/>
                <a:ea typeface="Fraunces" pitchFamily="18" charset="-122"/>
                <a:cs typeface="Fraunces" pitchFamily="18" charset="-120"/>
              </a:rPr>
              <a:t>con usuarios reales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815949" y="1941016"/>
            <a:ext cx="3587768" cy="1971132"/>
          </a:xfrm>
          <a:prstGeom prst="roundRect">
            <a:avLst>
              <a:gd name="adj" fmla="val 7571"/>
            </a:avLst>
          </a:prstGeom>
          <a:solidFill>
            <a:srgbClr val="16241B"/>
          </a:solidFill>
          <a:ln w="6350">
            <a:solidFill>
              <a:srgbClr val="2436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45947" y="2145655"/>
            <a:ext cx="322160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200" kern="0" dirty="0">
                <a:solidFill>
                  <a:srgbClr val="9DCB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SEDE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45947" y="2422451"/>
            <a:ext cx="3221604" cy="2768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80"/>
              </a:lnSpc>
              <a:buNone/>
            </a:pPr>
            <a:r>
              <a:rPr lang="en-US" sz="1800" dirty="0">
                <a:solidFill>
                  <a:srgbClr val="F3EEE3"/>
                </a:solidFill>
                <a:latin typeface="Fraunces" pitchFamily="18" charset="0"/>
                <a:ea typeface="Fraunces" pitchFamily="18" charset="-122"/>
                <a:cs typeface="Fraunces" pitchFamily="18" charset="-120"/>
              </a:rPr>
              <a:t>Viñedos Familia Chadwick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45947" y="2737358"/>
            <a:ext cx="3221604" cy="4520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FC7B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Reciclaje de uso diario de los colaboradores; no residuos industriales.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62448" y="1941016"/>
            <a:ext cx="3587840" cy="1971132"/>
          </a:xfrm>
          <a:prstGeom prst="roundRect">
            <a:avLst>
              <a:gd name="adj" fmla="val 7571"/>
            </a:avLst>
          </a:prstGeom>
          <a:solidFill>
            <a:srgbClr val="16241B"/>
          </a:solidFill>
          <a:ln w="6350">
            <a:solidFill>
              <a:srgbClr val="24362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92447" y="2145655"/>
            <a:ext cx="322167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200" kern="0" dirty="0">
                <a:solidFill>
                  <a:srgbClr val="9DCB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TUTORA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792447" y="2422451"/>
            <a:ext cx="3221678" cy="2768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80"/>
              </a:lnSpc>
              <a:buNone/>
            </a:pPr>
            <a:r>
              <a:rPr lang="en-US" sz="1800" dirty="0">
                <a:solidFill>
                  <a:srgbClr val="F3EEE3"/>
                </a:solidFill>
                <a:latin typeface="Fraunces" pitchFamily="18" charset="0"/>
                <a:ea typeface="Fraunces" pitchFamily="18" charset="-122"/>
                <a:cs typeface="Fraunces" pitchFamily="18" charset="-120"/>
              </a:rPr>
              <a:t>Andrea Cardenas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792447" y="2737358"/>
            <a:ext cx="3221678" cy="4520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FC7B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Subgerenta de Sostenibilidad y Aseguramiento de Calidad.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15949" y="4070883"/>
            <a:ext cx="3587768" cy="1971132"/>
          </a:xfrm>
          <a:prstGeom prst="roundRect">
            <a:avLst>
              <a:gd name="adj" fmla="val 7571"/>
            </a:avLst>
          </a:prstGeom>
          <a:solidFill>
            <a:srgbClr val="16241B"/>
          </a:solidFill>
          <a:ln w="6350">
            <a:solidFill>
              <a:srgbClr val="24362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45947" y="4275522"/>
            <a:ext cx="322160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200" kern="0" dirty="0">
                <a:solidFill>
                  <a:srgbClr val="9DCB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PARTICIPANTES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45947" y="4552317"/>
            <a:ext cx="3221604" cy="2768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80"/>
              </a:lnSpc>
              <a:buNone/>
            </a:pPr>
            <a:r>
              <a:rPr lang="en-US" sz="1800" dirty="0">
                <a:solidFill>
                  <a:srgbClr val="F3EEE3"/>
                </a:solidFill>
                <a:latin typeface="Fraunces" pitchFamily="18" charset="0"/>
                <a:ea typeface="Fraunces" pitchFamily="18" charset="-122"/>
                <a:cs typeface="Fraunces" pitchFamily="18" charset="-120"/>
              </a:rPr>
              <a:t>8 o más, en 2 o más áreas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045947" y="4867225"/>
            <a:ext cx="3221604" cy="4520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FC7B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Más 1 validador con suplente y 1 administrador.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62448" y="4070883"/>
            <a:ext cx="3587840" cy="1971132"/>
          </a:xfrm>
          <a:prstGeom prst="roundRect">
            <a:avLst>
              <a:gd name="adj" fmla="val 7571"/>
            </a:avLst>
          </a:prstGeom>
          <a:solidFill>
            <a:srgbClr val="16241B"/>
          </a:solidFill>
          <a:ln w="6350">
            <a:solidFill>
              <a:srgbClr val="24362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92447" y="4275522"/>
            <a:ext cx="322167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200" kern="0" dirty="0">
                <a:solidFill>
                  <a:srgbClr val="9DCB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DURACIÓN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792447" y="4552317"/>
            <a:ext cx="3221678" cy="2768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80"/>
              </a:lnSpc>
              <a:buNone/>
            </a:pPr>
            <a:r>
              <a:rPr lang="en-US" sz="1800" dirty="0">
                <a:solidFill>
                  <a:srgbClr val="F3EEE3"/>
                </a:solidFill>
                <a:latin typeface="Fraunces" pitchFamily="18" charset="0"/>
                <a:ea typeface="Fraunces" pitchFamily="18" charset="-122"/>
                <a:cs typeface="Fraunces" pitchFamily="18" charset="-120"/>
              </a:rPr>
              <a:t>4 semanas de operación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4792447" y="4867225"/>
            <a:ext cx="3221678" cy="4520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FC7B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Desde el cierre del Sprint 4, junto a los Sprints 5 y 6.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8331205" y="1937841"/>
            <a:ext cx="3047993" cy="4107346"/>
          </a:xfrm>
          <a:prstGeom prst="roundRect">
            <a:avLst>
              <a:gd name="adj" fmla="val 5000"/>
            </a:avLst>
          </a:prstGeom>
          <a:solidFill>
            <a:srgbClr val="F3EEE3"/>
          </a:solidFill>
          <a:ln/>
        </p:spPr>
      </p:sp>
      <p:sp>
        <p:nvSpPr>
          <p:cNvPr id="23" name="Text 21"/>
          <p:cNvSpPr/>
          <p:nvPr/>
        </p:nvSpPr>
        <p:spPr>
          <a:xfrm>
            <a:off x="8585175" y="2191817"/>
            <a:ext cx="261625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200" kern="0" dirty="0">
                <a:solidFill>
                  <a:srgbClr val="8A4A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 QUE SE NECESITA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585175" y="2532087"/>
            <a:ext cx="2616256" cy="5053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b="1" dirty="0">
                <a:solidFill>
                  <a:srgbClr val="16241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QR impresos en cada contenedor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8585175" y="3138996"/>
            <a:ext cx="2616256" cy="2653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b="1" dirty="0">
                <a:solidFill>
                  <a:srgbClr val="16241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 celular de cada persona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8585175" y="3505932"/>
            <a:ext cx="2616256" cy="2653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b="1" dirty="0">
                <a:solidFill>
                  <a:srgbClr val="16241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 navegador para el panel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8585175" y="4837435"/>
            <a:ext cx="2540055" cy="0"/>
          </a:xfrm>
          <a:prstGeom prst="line">
            <a:avLst/>
          </a:prstGeom>
          <a:noFill/>
          <a:ln w="6350">
            <a:solidFill>
              <a:srgbClr val="D6CDB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585175" y="4965836"/>
            <a:ext cx="2616256" cy="3987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940"/>
              </a:lnSpc>
              <a:buNone/>
            </a:pPr>
            <a:r>
              <a:rPr lang="en-US" sz="2800" b="1" dirty="0">
                <a:solidFill>
                  <a:srgbClr val="2F6B2A"/>
                </a:solidFill>
                <a:latin typeface="Fraunces" pitchFamily="18" charset="0"/>
                <a:ea typeface="Fraunces" pitchFamily="18" charset="-122"/>
                <a:cs typeface="Fraunces" pitchFamily="18" charset="-120"/>
              </a:rPr>
              <a:t>$0</a:t>
            </a:r>
            <a:endParaRPr lang="en-US" sz="2800" dirty="0"/>
          </a:p>
        </p:txBody>
      </p:sp>
      <p:sp>
        <p:nvSpPr>
          <p:cNvPr id="29" name="Text 27"/>
          <p:cNvSpPr/>
          <p:nvPr/>
        </p:nvSpPr>
        <p:spPr>
          <a:xfrm>
            <a:off x="8585175" y="5364584"/>
            <a:ext cx="2616256" cy="4520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A4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sin balanzas, sensores ni servidores propios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F17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35476" y="665609"/>
            <a:ext cx="4571953" cy="4571953"/>
          </a:xfrm>
          <a:prstGeom prst="roundRect">
            <a:avLst>
              <a:gd name="adj" fmla="val 35556"/>
            </a:avLst>
          </a:prstGeom>
          <a:solidFill>
            <a:srgbClr val="131E17"/>
          </a:solidFill>
          <a:ln/>
        </p:spPr>
      </p:sp>
      <p:sp>
        <p:nvSpPr>
          <p:cNvPr id="3" name="Shape 1"/>
          <p:cNvSpPr/>
          <p:nvPr/>
        </p:nvSpPr>
        <p:spPr>
          <a:xfrm>
            <a:off x="812774" y="906760"/>
            <a:ext cx="355557" cy="25361"/>
          </a:xfrm>
          <a:prstGeom prst="roundRect">
            <a:avLst>
              <a:gd name="adj" fmla="val 49999"/>
            </a:avLst>
          </a:prstGeom>
          <a:solidFill>
            <a:srgbClr val="9DCB6A"/>
          </a:solidFill>
          <a:ln/>
        </p:spPr>
      </p:sp>
      <p:sp>
        <p:nvSpPr>
          <p:cNvPr id="4" name="Text 2"/>
          <p:cNvSpPr/>
          <p:nvPr/>
        </p:nvSpPr>
        <p:spPr>
          <a:xfrm>
            <a:off x="1295279" y="812775"/>
            <a:ext cx="218394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300" kern="0" dirty="0">
                <a:solidFill>
                  <a:srgbClr val="9DCB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PILOTAJE · RUTA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835981" y="4596309"/>
            <a:ext cx="0" cy="355557"/>
          </a:xfrm>
          <a:prstGeom prst="line">
            <a:avLst/>
          </a:prstGeom>
          <a:noFill/>
          <a:ln w="25400">
            <a:solidFill>
              <a:srgbClr val="D991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98849" y="4649639"/>
            <a:ext cx="9706158" cy="274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3EEE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Los plazos los define la viña.</a:t>
            </a:r>
            <a:r>
              <a:rPr lang="en-US" sz="1400" dirty="0">
                <a:solidFill>
                  <a:srgbClr val="F3EEE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400" dirty="0">
                <a:solidFill>
                  <a:srgbClr val="BFC7B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Las duraciones son referenciales y nos adaptamos a la disponibilidad de la planta.</a:t>
            </a:r>
            <a:endParaRPr lang="en-US" sz="1400" dirty="0"/>
          </a:p>
        </p:txBody>
      </p:sp>
      <p:sp>
        <p:nvSpPr>
          <p:cNvPr id="7" name="Text 5"/>
          <p:cNvSpPr/>
          <p:nvPr>
            <p:ph type="title"/>
          </p:nvPr>
        </p:nvSpPr>
        <p:spPr>
          <a:xfrm>
            <a:off x="823281" y="1821334"/>
            <a:ext cx="10883343" cy="505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780"/>
              </a:lnSpc>
              <a:buNone/>
            </a:pPr>
            <a:r>
              <a:rPr lang="en-US" sz="3600" b="1" i="0" spc="-50" kern="0" dirty="0">
                <a:solidFill>
                  <a:srgbClr val="F3EEE3"/>
                </a:solidFill>
                <a:latin typeface="Fraunces" pitchFamily="18" charset="0"/>
                <a:ea typeface="Fraunces" pitchFamily="18" charset="-122"/>
                <a:cs typeface="Fraunces" pitchFamily="18" charset="-120"/>
              </a:rPr>
              <a:t>Ocho semanas, </a:t>
            </a:r>
            <a:r>
              <a:rPr lang="en-US" sz="3600" b="1" i="1" spc="-50" kern="0" dirty="0">
                <a:solidFill>
                  <a:srgbClr val="9DCB6A"/>
                </a:solidFill>
                <a:latin typeface="Fraunces" pitchFamily="18" charset="0"/>
                <a:ea typeface="Fraunces" pitchFamily="18" charset="-122"/>
                <a:cs typeface="Fraunces" pitchFamily="18" charset="-120"/>
              </a:rPr>
              <a:t>seis etapas</a:t>
            </a:r>
            <a:endParaRPr lang="en-US" sz="3600" dirty="0"/>
          </a:p>
        </p:txBody>
      </p:sp>
      <p:sp>
        <p:nvSpPr>
          <p:cNvPr id="8" name="Shape 6"/>
          <p:cNvSpPr/>
          <p:nvPr/>
        </p:nvSpPr>
        <p:spPr>
          <a:xfrm>
            <a:off x="829631" y="2608721"/>
            <a:ext cx="1390616" cy="1162007"/>
          </a:xfrm>
          <a:prstGeom prst="roundRect">
            <a:avLst>
              <a:gd name="adj" fmla="val 8197"/>
            </a:avLst>
          </a:prstGeom>
          <a:solidFill>
            <a:srgbClr val="16241B"/>
          </a:solidFill>
          <a:ln w="12700">
            <a:solidFill>
              <a:srgbClr val="D991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59504" y="2738599"/>
            <a:ext cx="118167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D9915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◆ 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59504" y="3002707"/>
            <a:ext cx="1181670" cy="2158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F3EEE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Aprobación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59504" y="3243932"/>
            <a:ext cx="118167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E99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 sem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280638" y="2605546"/>
            <a:ext cx="1390590" cy="1168357"/>
          </a:xfrm>
          <a:prstGeom prst="roundRect">
            <a:avLst>
              <a:gd name="adj" fmla="val 8424"/>
            </a:avLst>
          </a:prstGeom>
          <a:solidFill>
            <a:srgbClr val="16241B"/>
          </a:solidFill>
          <a:ln w="6350">
            <a:solidFill>
              <a:srgbClr val="24362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409049" y="2733960"/>
            <a:ext cx="118456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E99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409049" y="2998068"/>
            <a:ext cx="1184568" cy="4062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F3EEE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Preparar plataforma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409049" y="3429707"/>
            <a:ext cx="118456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E99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 sem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722067" y="2605546"/>
            <a:ext cx="1390590" cy="1168357"/>
          </a:xfrm>
          <a:prstGeom prst="roundRect">
            <a:avLst>
              <a:gd name="adj" fmla="val 8424"/>
            </a:avLst>
          </a:prstGeom>
          <a:solidFill>
            <a:srgbClr val="16241B"/>
          </a:solidFill>
          <a:ln w="6350">
            <a:solidFill>
              <a:srgbClr val="24362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850478" y="2733960"/>
            <a:ext cx="118456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E99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850478" y="2998068"/>
            <a:ext cx="1184568" cy="4062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F3EEE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Configurar planta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850478" y="3429707"/>
            <a:ext cx="118456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E99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 sem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166698" y="2602371"/>
            <a:ext cx="4775129" cy="1174707"/>
          </a:xfrm>
          <a:prstGeom prst="roundRect">
            <a:avLst>
              <a:gd name="adj" fmla="val 8649"/>
            </a:avLst>
          </a:prstGeom>
          <a:solidFill>
            <a:srgbClr val="9DCB6A"/>
          </a:solidFill>
          <a:ln/>
        </p:spPr>
      </p:sp>
      <p:sp>
        <p:nvSpPr>
          <p:cNvPr id="21" name="Text 19"/>
          <p:cNvSpPr/>
          <p:nvPr/>
        </p:nvSpPr>
        <p:spPr>
          <a:xfrm>
            <a:off x="5293647" y="2729322"/>
            <a:ext cx="465686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E3A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 – 5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293647" y="2993430"/>
            <a:ext cx="4656869" cy="2158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0F17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Lanzamiento y operación del piloto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293647" y="3234655"/>
            <a:ext cx="133791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E3A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◆ Lanzamiento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151933" y="3234655"/>
            <a:ext cx="176240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E3A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◆ Revisión de mitad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9273783" y="3234655"/>
            <a:ext cx="54109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E3A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 sem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9992740" y="2608721"/>
            <a:ext cx="1390616" cy="1162007"/>
          </a:xfrm>
          <a:prstGeom prst="roundRect">
            <a:avLst>
              <a:gd name="adj" fmla="val 8197"/>
            </a:avLst>
          </a:prstGeom>
          <a:solidFill>
            <a:srgbClr val="16241B"/>
          </a:solidFill>
          <a:ln w="12700">
            <a:solidFill>
              <a:srgbClr val="D9915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122613" y="2738599"/>
            <a:ext cx="118167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D9915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◆ 6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0122613" y="3002707"/>
            <a:ext cx="1181670" cy="2158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F3EEE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Cierre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0122613" y="3243932"/>
            <a:ext cx="118167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E99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 sem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874081" y="3878746"/>
            <a:ext cx="1282665" cy="4368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BFC7B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Piloto aprobado y fecha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2258412" y="3878746"/>
            <a:ext cx="1282665" cy="4368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BFC7B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Admin entra a su panel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3642671" y="3878746"/>
            <a:ext cx="1282665" cy="4368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BFC7B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QR pegados y validador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027003" y="3878746"/>
            <a:ext cx="5075398" cy="4368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BFC7B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Uso diario: depósitos, ronda diaria y retiros en el panel. Seguimiento semanal con la viña y ajuste a las 2 semanas.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10107040" y="3878746"/>
            <a:ext cx="1282665" cy="4368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BFC7B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Medir KPIs y decidir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F17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2774" y="805160"/>
            <a:ext cx="355557" cy="25361"/>
          </a:xfrm>
          <a:prstGeom prst="roundRect">
            <a:avLst>
              <a:gd name="adj" fmla="val 49999"/>
            </a:avLst>
          </a:prstGeom>
          <a:solidFill>
            <a:srgbClr val="9DCB6A"/>
          </a:solidFill>
          <a:ln/>
        </p:spPr>
      </p:sp>
      <p:sp>
        <p:nvSpPr>
          <p:cNvPr id="3" name="Text 1"/>
          <p:cNvSpPr/>
          <p:nvPr/>
        </p:nvSpPr>
        <p:spPr>
          <a:xfrm>
            <a:off x="1295279" y="711188"/>
            <a:ext cx="441345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300" kern="0" dirty="0">
                <a:solidFill>
                  <a:srgbClr val="9DCB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PILOTAJE · KPIs Y TASA DE ÉXITO</a:t>
            </a:r>
            <a:endParaRPr lang="en-US" sz="12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812774" y="1051446"/>
            <a:ext cx="10883418" cy="505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780"/>
              </a:lnSpc>
              <a:buNone/>
            </a:pPr>
            <a:r>
              <a:rPr lang="en-US" sz="3600" b="1" i="0" spc="-50" kern="0" dirty="0">
                <a:solidFill>
                  <a:srgbClr val="F3EEE3"/>
                </a:solidFill>
                <a:latin typeface="Fraunces" pitchFamily="18" charset="0"/>
                <a:ea typeface="Fraunces" pitchFamily="18" charset="-122"/>
                <a:cs typeface="Fraunces" pitchFamily="18" charset="-120"/>
              </a:rPr>
              <a:t>Seis KPIs y cuándo diremos </a:t>
            </a:r>
            <a:r>
              <a:rPr lang="en-US" sz="3600" b="1" i="1" spc="-50" kern="0" dirty="0">
                <a:solidFill>
                  <a:srgbClr val="9DCB6A"/>
                </a:solidFill>
                <a:latin typeface="Fraunces" pitchFamily="18" charset="0"/>
                <a:ea typeface="Fraunces" pitchFamily="18" charset="-122"/>
                <a:cs typeface="Fraunces" pitchFamily="18" charset="-120"/>
              </a:rPr>
              <a:t>que funcionó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812774" y="2077865"/>
            <a:ext cx="7391483" cy="0"/>
          </a:xfrm>
          <a:prstGeom prst="line">
            <a:avLst/>
          </a:prstGeom>
          <a:noFill/>
          <a:ln w="12700">
            <a:solidFill>
              <a:srgbClr val="3344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39722" y="1785466"/>
            <a:ext cx="40635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8E99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#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396867" y="1785466"/>
            <a:ext cx="163823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8E99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KPI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085889" y="1785466"/>
            <a:ext cx="270812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8E99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Cómo se mide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816729" y="1785466"/>
            <a:ext cx="113029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8E99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Mínimo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997813" y="1785466"/>
            <a:ext cx="113029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9DCB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Meta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12774" y="2573254"/>
            <a:ext cx="7391483" cy="0"/>
          </a:xfrm>
          <a:prstGeom prst="line">
            <a:avLst/>
          </a:prstGeom>
          <a:noFill/>
          <a:ln w="6350">
            <a:solidFill>
              <a:srgbClr val="24362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39722" y="2185801"/>
            <a:ext cx="406357" cy="3098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9DCB6A"/>
                </a:solidFill>
                <a:latin typeface="Fraunces" pitchFamily="18" charset="0"/>
                <a:ea typeface="Fraunces" pitchFamily="18" charset="-122"/>
                <a:cs typeface="Fraunces" pitchFamily="18" charset="-120"/>
              </a:rPr>
              <a:t>K1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396867" y="2212392"/>
            <a:ext cx="1638235" cy="2565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F3EEE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Adopción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085889" y="2228986"/>
            <a:ext cx="2708129" cy="2234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BFC7B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1+ depósito en la semana 1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816729" y="2212392"/>
            <a:ext cx="1130296" cy="2565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F3EEE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 · 2 áreas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997813" y="2212392"/>
            <a:ext cx="1130296" cy="2565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9DCB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 · 3 áreas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12774" y="2576426"/>
            <a:ext cx="7391483" cy="492215"/>
          </a:xfrm>
          <a:prstGeom prst="rect">
            <a:avLst/>
          </a:prstGeom>
          <a:solidFill>
            <a:srgbClr val="16241B"/>
          </a:solidFill>
          <a:ln/>
        </p:spPr>
      </p:sp>
      <p:sp>
        <p:nvSpPr>
          <p:cNvPr id="18" name="Shape 16"/>
          <p:cNvSpPr/>
          <p:nvPr/>
        </p:nvSpPr>
        <p:spPr>
          <a:xfrm>
            <a:off x="812774" y="3065466"/>
            <a:ext cx="7391483" cy="0"/>
          </a:xfrm>
          <a:prstGeom prst="line">
            <a:avLst/>
          </a:prstGeom>
          <a:noFill/>
          <a:ln w="6350">
            <a:solidFill>
              <a:srgbClr val="24362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39722" y="2678013"/>
            <a:ext cx="406357" cy="3098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D9915C"/>
                </a:solidFill>
                <a:latin typeface="Fraunces" pitchFamily="18" charset="0"/>
                <a:ea typeface="Fraunces" pitchFamily="18" charset="-122"/>
                <a:cs typeface="Fraunces" pitchFamily="18" charset="-120"/>
              </a:rPr>
              <a:t>K2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396867" y="2704604"/>
            <a:ext cx="1638235" cy="2565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F3EEE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Participación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085889" y="2721198"/>
            <a:ext cx="2708129" cy="2234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BFC7B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Inscritos con depósito validado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816729" y="2704604"/>
            <a:ext cx="1130296" cy="2565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F3EEE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50 %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997813" y="2704604"/>
            <a:ext cx="1130296" cy="2565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9DCB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60 %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812774" y="3068638"/>
            <a:ext cx="7391483" cy="492215"/>
          </a:xfrm>
          <a:prstGeom prst="rect">
            <a:avLst/>
          </a:prstGeom>
          <a:solidFill>
            <a:srgbClr val="16241B"/>
          </a:solidFill>
          <a:ln/>
        </p:spPr>
      </p:sp>
      <p:sp>
        <p:nvSpPr>
          <p:cNvPr id="25" name="Shape 23"/>
          <p:cNvSpPr/>
          <p:nvPr/>
        </p:nvSpPr>
        <p:spPr>
          <a:xfrm>
            <a:off x="812774" y="3557677"/>
            <a:ext cx="7391483" cy="0"/>
          </a:xfrm>
          <a:prstGeom prst="line">
            <a:avLst/>
          </a:prstGeom>
          <a:noFill/>
          <a:ln w="6350">
            <a:solidFill>
              <a:srgbClr val="24362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39722" y="3170225"/>
            <a:ext cx="406357" cy="3098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D9915C"/>
                </a:solidFill>
                <a:latin typeface="Fraunces" pitchFamily="18" charset="0"/>
                <a:ea typeface="Fraunces" pitchFamily="18" charset="-122"/>
                <a:cs typeface="Fraunces" pitchFamily="18" charset="-120"/>
              </a:rPr>
              <a:t>K3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396867" y="3196816"/>
            <a:ext cx="1638235" cy="2565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F3EEE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Rondas diarias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085889" y="3213410"/>
            <a:ext cx="2708129" cy="2234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BFC7B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Rondas ÷ días hábiles (≈ 20)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816729" y="3196816"/>
            <a:ext cx="1130296" cy="2565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F3EEE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60 % · 12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997813" y="3196816"/>
            <a:ext cx="1130296" cy="2565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9DCB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70 % · 14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812774" y="4049889"/>
            <a:ext cx="7391483" cy="0"/>
          </a:xfrm>
          <a:prstGeom prst="line">
            <a:avLst/>
          </a:prstGeom>
          <a:noFill/>
          <a:ln w="6350">
            <a:solidFill>
              <a:srgbClr val="24362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39722" y="3662437"/>
            <a:ext cx="406357" cy="3098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9DCB6A"/>
                </a:solidFill>
                <a:latin typeface="Fraunces" pitchFamily="18" charset="0"/>
                <a:ea typeface="Fraunces" pitchFamily="18" charset="-122"/>
                <a:cs typeface="Fraunces" pitchFamily="18" charset="-120"/>
              </a:rPr>
              <a:t>K4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1396867" y="3689040"/>
            <a:ext cx="1689022" cy="2565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F3EEE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Validación a tiempo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3085889" y="3705622"/>
            <a:ext cx="2708129" cy="2234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BFC7B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Validados en ≤ 24 h hábiles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816729" y="3689040"/>
            <a:ext cx="1130296" cy="2565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F3EEE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70 %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6997813" y="3689040"/>
            <a:ext cx="1130296" cy="2565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9DCB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85 %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812774" y="4542113"/>
            <a:ext cx="7391483" cy="0"/>
          </a:xfrm>
          <a:prstGeom prst="line">
            <a:avLst/>
          </a:prstGeom>
          <a:noFill/>
          <a:ln w="6350">
            <a:solidFill>
              <a:srgbClr val="24362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39722" y="4154661"/>
            <a:ext cx="406357" cy="3098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9DCB6A"/>
                </a:solidFill>
                <a:latin typeface="Fraunces" pitchFamily="18" charset="0"/>
                <a:ea typeface="Fraunces" pitchFamily="18" charset="-122"/>
                <a:cs typeface="Fraunces" pitchFamily="18" charset="-120"/>
              </a:rPr>
              <a:t>K5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1396867" y="4181252"/>
            <a:ext cx="1638235" cy="2565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F3EEE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Cierre de cadena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3085889" y="4197846"/>
            <a:ext cx="2708129" cy="2234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BFC7B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Retiros registrados sin ayuda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5816729" y="4181252"/>
            <a:ext cx="1130296" cy="2565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F3EEE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 de 4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6997813" y="4181252"/>
            <a:ext cx="1130296" cy="2565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9DCB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 de 4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812774" y="5034325"/>
            <a:ext cx="7391483" cy="0"/>
          </a:xfrm>
          <a:prstGeom prst="line">
            <a:avLst/>
          </a:prstGeom>
          <a:noFill/>
          <a:ln w="6350">
            <a:solidFill>
              <a:srgbClr val="24362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939722" y="4646873"/>
            <a:ext cx="406357" cy="3098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9DCB6A"/>
                </a:solidFill>
                <a:latin typeface="Fraunces" pitchFamily="18" charset="0"/>
                <a:ea typeface="Fraunces" pitchFamily="18" charset="-122"/>
                <a:cs typeface="Fraunces" pitchFamily="18" charset="-120"/>
              </a:rPr>
              <a:t>K6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1396867" y="4673464"/>
            <a:ext cx="1638235" cy="2565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F3EEE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Usabilidad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3085889" y="4690058"/>
            <a:ext cx="2708129" cy="2234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BFC7B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Encuesta SUS (0 a 100)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5816729" y="4673464"/>
            <a:ext cx="1130296" cy="2565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F3EEE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60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6997813" y="4673464"/>
            <a:ext cx="1130296" cy="2565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9DCB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68</a:t>
            </a:r>
            <a:endParaRPr lang="en-US" sz="1300" dirty="0"/>
          </a:p>
        </p:txBody>
      </p:sp>
      <p:sp>
        <p:nvSpPr>
          <p:cNvPr id="49" name="Text 47"/>
          <p:cNvSpPr/>
          <p:nvPr/>
        </p:nvSpPr>
        <p:spPr>
          <a:xfrm>
            <a:off x="812774" y="5933455"/>
            <a:ext cx="761322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D9915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K2 y K3 son críticos.</a:t>
            </a:r>
            <a:r>
              <a:rPr lang="en-US" sz="1200" dirty="0">
                <a:solidFill>
                  <a:srgbClr val="8E99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K1 a K5 salen del propio panel; los kilos no son KPI porque son estimados.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8458226" y="1785466"/>
            <a:ext cx="2920972" cy="843207"/>
          </a:xfrm>
          <a:prstGeom prst="roundRect">
            <a:avLst>
              <a:gd name="adj" fmla="val 15062"/>
            </a:avLst>
          </a:prstGeom>
          <a:solidFill>
            <a:srgbClr val="F3EEE3"/>
          </a:solidFill>
          <a:ln/>
        </p:spPr>
      </p:sp>
      <p:sp>
        <p:nvSpPr>
          <p:cNvPr id="51" name="Text 49"/>
          <p:cNvSpPr/>
          <p:nvPr/>
        </p:nvSpPr>
        <p:spPr>
          <a:xfrm>
            <a:off x="8635969" y="1937841"/>
            <a:ext cx="264245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200" kern="0" dirty="0">
                <a:solidFill>
                  <a:srgbClr val="8A4A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TASA DE ÉXITO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8635969" y="2201962"/>
            <a:ext cx="2642453" cy="2997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dirty="0">
                <a:solidFill>
                  <a:srgbClr val="16241B"/>
                </a:solidFill>
                <a:latin typeface="Fraunces" pitchFamily="18" charset="0"/>
                <a:ea typeface="Fraunces" pitchFamily="18" charset="-122"/>
                <a:cs typeface="Fraunces" pitchFamily="18" charset="-120"/>
              </a:rPr>
              <a:t>KPIs en su mínimo </a:t>
            </a:r>
            <a:r>
              <a:rPr lang="en-US" sz="1800" dirty="0">
                <a:solidFill>
                  <a:srgbClr val="2F6B2A"/>
                </a:solidFill>
                <a:latin typeface="Fraunces" pitchFamily="18" charset="0"/>
                <a:ea typeface="Fraunces" pitchFamily="18" charset="-122"/>
                <a:cs typeface="Fraunces" pitchFamily="18" charset="-120"/>
              </a:rPr>
              <a:t>÷ 6</a:t>
            </a:r>
            <a:endParaRPr lang="en-US" sz="1800" dirty="0"/>
          </a:p>
        </p:txBody>
      </p:sp>
      <p:sp>
        <p:nvSpPr>
          <p:cNvPr id="53" name="Shape 51"/>
          <p:cNvSpPr/>
          <p:nvPr/>
        </p:nvSpPr>
        <p:spPr>
          <a:xfrm>
            <a:off x="8458226" y="2730252"/>
            <a:ext cx="2920972" cy="1067975"/>
          </a:xfrm>
          <a:prstGeom prst="roundRect">
            <a:avLst>
              <a:gd name="adj" fmla="val 11892"/>
            </a:avLst>
          </a:prstGeom>
          <a:solidFill>
            <a:srgbClr val="9DCB6A"/>
          </a:solidFill>
          <a:ln/>
        </p:spPr>
      </p:sp>
      <p:sp>
        <p:nvSpPr>
          <p:cNvPr id="54" name="Text 52"/>
          <p:cNvSpPr/>
          <p:nvPr/>
        </p:nvSpPr>
        <p:spPr>
          <a:xfrm>
            <a:off x="8635969" y="2913794"/>
            <a:ext cx="2642453" cy="2768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80"/>
              </a:lnSpc>
              <a:buNone/>
            </a:pPr>
            <a:r>
              <a:rPr lang="en-US" sz="1800" b="1" dirty="0">
                <a:solidFill>
                  <a:srgbClr val="0F1712"/>
                </a:solidFill>
                <a:latin typeface="Fraunces" pitchFamily="18" charset="0"/>
                <a:ea typeface="Fraunces" pitchFamily="18" charset="-122"/>
                <a:cs typeface="Fraunces" pitchFamily="18" charset="-120"/>
              </a:rPr>
              <a:t>≥ 83 % · Exitoso</a:t>
            </a:r>
            <a:endParaRPr lang="en-US" sz="1800" dirty="0"/>
          </a:p>
        </p:txBody>
      </p:sp>
      <p:sp>
        <p:nvSpPr>
          <p:cNvPr id="55" name="Text 53"/>
          <p:cNvSpPr/>
          <p:nvPr/>
        </p:nvSpPr>
        <p:spPr>
          <a:xfrm>
            <a:off x="8635969" y="3203265"/>
            <a:ext cx="2642453" cy="4368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1E3A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 o 6, con K2 y K3: continuar y ampliar</a:t>
            </a:r>
            <a:endParaRPr lang="en-US" sz="1200" dirty="0"/>
          </a:p>
        </p:txBody>
      </p:sp>
      <p:sp>
        <p:nvSpPr>
          <p:cNvPr id="56" name="Shape 54"/>
          <p:cNvSpPr/>
          <p:nvPr/>
        </p:nvSpPr>
        <p:spPr>
          <a:xfrm>
            <a:off x="8458226" y="3899818"/>
            <a:ext cx="2920972" cy="1068048"/>
          </a:xfrm>
          <a:prstGeom prst="roundRect">
            <a:avLst>
              <a:gd name="adj" fmla="val 11891"/>
            </a:avLst>
          </a:prstGeom>
          <a:solidFill>
            <a:srgbClr val="D9915C"/>
          </a:solidFill>
          <a:ln/>
        </p:spPr>
      </p:sp>
      <p:sp>
        <p:nvSpPr>
          <p:cNvPr id="57" name="Text 55"/>
          <p:cNvSpPr/>
          <p:nvPr/>
        </p:nvSpPr>
        <p:spPr>
          <a:xfrm>
            <a:off x="8635969" y="4083360"/>
            <a:ext cx="2642453" cy="2768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80"/>
              </a:lnSpc>
              <a:buNone/>
            </a:pPr>
            <a:r>
              <a:rPr lang="en-US" sz="1800" b="1" dirty="0">
                <a:solidFill>
                  <a:srgbClr val="0F1712"/>
                </a:solidFill>
                <a:latin typeface="Fraunces" pitchFamily="18" charset="0"/>
                <a:ea typeface="Fraunces" pitchFamily="18" charset="-122"/>
                <a:cs typeface="Fraunces" pitchFamily="18" charset="-120"/>
              </a:rPr>
              <a:t>50 – 67 % · Parcial</a:t>
            </a:r>
            <a:endParaRPr lang="en-US" sz="1800" dirty="0"/>
          </a:p>
        </p:txBody>
      </p:sp>
      <p:sp>
        <p:nvSpPr>
          <p:cNvPr id="58" name="Text 56"/>
          <p:cNvSpPr/>
          <p:nvPr/>
        </p:nvSpPr>
        <p:spPr>
          <a:xfrm>
            <a:off x="8635969" y="4372831"/>
            <a:ext cx="2642453" cy="4368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3D200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 o 4: ajustar con la viña y volver a medir</a:t>
            </a:r>
            <a:endParaRPr lang="en-US" sz="1200" dirty="0"/>
          </a:p>
        </p:txBody>
      </p:sp>
      <p:sp>
        <p:nvSpPr>
          <p:cNvPr id="59" name="Shape 57"/>
          <p:cNvSpPr/>
          <p:nvPr/>
        </p:nvSpPr>
        <p:spPr>
          <a:xfrm>
            <a:off x="8461401" y="5072633"/>
            <a:ext cx="2914622" cy="1070972"/>
          </a:xfrm>
          <a:prstGeom prst="roundRect">
            <a:avLst>
              <a:gd name="adj" fmla="val 11562"/>
            </a:avLst>
          </a:prstGeom>
          <a:solidFill>
            <a:srgbClr val="16241B"/>
          </a:solidFill>
          <a:ln w="6350">
            <a:solidFill>
              <a:srgbClr val="33443A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8640606" y="5257626"/>
            <a:ext cx="2632900" cy="2768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80"/>
              </a:lnSpc>
              <a:buNone/>
            </a:pPr>
            <a:r>
              <a:rPr lang="en-US" sz="1800" b="1" dirty="0">
                <a:solidFill>
                  <a:srgbClr val="F3EEE3"/>
                </a:solidFill>
                <a:latin typeface="Fraunces" pitchFamily="18" charset="0"/>
                <a:ea typeface="Fraunces" pitchFamily="18" charset="-122"/>
                <a:cs typeface="Fraunces" pitchFamily="18" charset="-120"/>
              </a:rPr>
              <a:t>&lt; 50 % · No exitoso</a:t>
            </a:r>
            <a:endParaRPr lang="en-US" sz="1800" dirty="0"/>
          </a:p>
        </p:txBody>
      </p:sp>
      <p:sp>
        <p:nvSpPr>
          <p:cNvPr id="61" name="Text 59"/>
          <p:cNvSpPr/>
          <p:nvPr/>
        </p:nvSpPr>
        <p:spPr>
          <a:xfrm>
            <a:off x="8640606" y="5547109"/>
            <a:ext cx="2632900" cy="4368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BFC7B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 a 2: volver al backlog y replantear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F17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730946" y="253963"/>
            <a:ext cx="6349956" cy="6349956"/>
          </a:xfrm>
          <a:prstGeom prst="roundRect">
            <a:avLst>
              <a:gd name="adj" fmla="val 25600"/>
            </a:avLst>
          </a:prstGeom>
          <a:solidFill>
            <a:srgbClr val="16241B"/>
          </a:solidFill>
          <a:ln/>
        </p:spPr>
      </p:sp>
      <p:sp>
        <p:nvSpPr>
          <p:cNvPr id="3" name="Shape 1"/>
          <p:cNvSpPr/>
          <p:nvPr/>
        </p:nvSpPr>
        <p:spPr>
          <a:xfrm>
            <a:off x="7683494" y="1206438"/>
            <a:ext cx="4444933" cy="4444933"/>
          </a:xfrm>
          <a:prstGeom prst="roundRect">
            <a:avLst>
              <a:gd name="adj" fmla="val 36572"/>
            </a:avLst>
          </a:prstGeom>
          <a:solidFill>
            <a:srgbClr val="1C2E22"/>
          </a:solidFill>
          <a:ln/>
        </p:spPr>
      </p:sp>
      <p:sp>
        <p:nvSpPr>
          <p:cNvPr id="4" name="Shape 2"/>
          <p:cNvSpPr/>
          <p:nvPr/>
        </p:nvSpPr>
        <p:spPr>
          <a:xfrm>
            <a:off x="812774" y="2155949"/>
            <a:ext cx="101588" cy="101588"/>
          </a:xfrm>
          <a:prstGeom prst="roundRect">
            <a:avLst>
              <a:gd name="adj" fmla="val 50000"/>
            </a:avLst>
          </a:prstGeom>
          <a:solidFill>
            <a:srgbClr val="D9915C"/>
          </a:solidFill>
          <a:ln/>
        </p:spPr>
      </p:sp>
      <p:sp>
        <p:nvSpPr>
          <p:cNvPr id="5" name="Text 3"/>
          <p:cNvSpPr/>
          <p:nvPr/>
        </p:nvSpPr>
        <p:spPr>
          <a:xfrm>
            <a:off x="1015949" y="2100076"/>
            <a:ext cx="3206751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300" kern="0" dirty="0">
                <a:solidFill>
                  <a:srgbClr val="D9915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DEMOSTRACIÓN EN VIVO</a:t>
            </a:r>
            <a:endParaRPr lang="en-US" sz="1200" dirty="0"/>
          </a:p>
        </p:txBody>
      </p:sp>
      <p:sp>
        <p:nvSpPr>
          <p:cNvPr id="6" name="Text 4"/>
          <p:cNvSpPr/>
          <p:nvPr>
            <p:ph type="title"/>
          </p:nvPr>
        </p:nvSpPr>
        <p:spPr>
          <a:xfrm>
            <a:off x="812774" y="2567372"/>
            <a:ext cx="6409623" cy="2215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624"/>
              </a:lnSpc>
              <a:buNone/>
            </a:pPr>
            <a:r>
              <a:rPr lang="en-US" sz="8800" b="1" i="0" spc="-200" kern="0" dirty="0">
                <a:solidFill>
                  <a:srgbClr val="F3EEE3"/>
                </a:solidFill>
                <a:latin typeface="Fraunces" pitchFamily="18" charset="0"/>
                <a:ea typeface="Fraunces" pitchFamily="18" charset="-122"/>
                <a:cs typeface="Fraunces" pitchFamily="18" charset="-120"/>
              </a:rPr>
              <a:t>Veamos</a:t>
            </a:r>
            <a:endParaRPr lang="en-US" sz="8800" dirty="0"/>
          </a:p>
          <a:p>
            <a:pPr algn="l" indent="0" marL="0">
              <a:lnSpc>
                <a:spcPts val="8624"/>
              </a:lnSpc>
              <a:buNone/>
            </a:pPr>
            <a:r>
              <a:rPr lang="en-US" sz="8800" b="1" i="1" spc="-200" kern="0" dirty="0">
                <a:solidFill>
                  <a:srgbClr val="9DCB6A"/>
                </a:solidFill>
                <a:latin typeface="Fraunces" pitchFamily="18" charset="0"/>
                <a:ea typeface="Fraunces" pitchFamily="18" charset="-122"/>
                <a:cs typeface="Fraunces" pitchFamily="18" charset="-120"/>
              </a:rPr>
              <a:t>RecyTrack.</a:t>
            </a:r>
            <a:endParaRPr lang="en-US" sz="8800" dirty="0"/>
          </a:p>
        </p:txBody>
      </p:sp>
      <p:sp>
        <p:nvSpPr>
          <p:cNvPr id="7" name="Shape 5"/>
          <p:cNvSpPr/>
          <p:nvPr/>
        </p:nvSpPr>
        <p:spPr>
          <a:xfrm>
            <a:off x="8254979" y="634963"/>
            <a:ext cx="2793952" cy="5587976"/>
          </a:xfrm>
          <a:prstGeom prst="roundRect">
            <a:avLst>
              <a:gd name="adj" fmla="val 16364"/>
            </a:avLst>
          </a:prstGeom>
          <a:solidFill>
            <a:srgbClr val="050806"/>
          </a:solidFill>
          <a:ln/>
          <a:effectLst>
            <a:outerShdw sx="100000" sy="100000" kx="0" ky="0" algn="bl" rotWithShape="0" blurRad="571500" dist="254000" dir="5400000">
              <a:srgbClr val="000000">
                <a:alpha val="10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369247" y="749226"/>
            <a:ext cx="2565416" cy="5359440"/>
          </a:xfrm>
          <a:prstGeom prst="roundRect">
            <a:avLst>
              <a:gd name="adj" fmla="val 13861"/>
            </a:avLst>
          </a:prstGeom>
          <a:solidFill>
            <a:srgbClr val="F4F8F1"/>
          </a:solidFill>
          <a:ln/>
        </p:spPr>
      </p:sp>
      <p:sp>
        <p:nvSpPr>
          <p:cNvPr id="9" name="Shape 7"/>
          <p:cNvSpPr/>
          <p:nvPr/>
        </p:nvSpPr>
        <p:spPr>
          <a:xfrm>
            <a:off x="9270928" y="926964"/>
            <a:ext cx="761980" cy="203175"/>
          </a:xfrm>
          <a:prstGeom prst="roundRect">
            <a:avLst>
              <a:gd name="adj" fmla="val 50000"/>
            </a:avLst>
          </a:prstGeom>
          <a:solidFill>
            <a:srgbClr val="050806"/>
          </a:solidFill>
          <a:ln/>
        </p:spPr>
      </p:sp>
      <p:sp>
        <p:nvSpPr>
          <p:cNvPr id="10" name="Shape 8"/>
          <p:cNvSpPr/>
          <p:nvPr/>
        </p:nvSpPr>
        <p:spPr>
          <a:xfrm>
            <a:off x="9118547" y="2220069"/>
            <a:ext cx="1066743" cy="1066743"/>
          </a:xfrm>
          <a:prstGeom prst="roundRect">
            <a:avLst>
              <a:gd name="adj" fmla="val 28573"/>
            </a:avLst>
          </a:prstGeom>
          <a:solidFill>
            <a:srgbClr val="1B7F45"/>
          </a:solidFill>
          <a:ln/>
        </p:spPr>
      </p:sp>
      <p:pic>
        <p:nvPicPr>
          <p:cNvPr id="11" name="Image 0" descr="Logo de RecyTrack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321722" y="2423244"/>
            <a:ext cx="660392" cy="660392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8766975" y="3464558"/>
            <a:ext cx="2123864" cy="3810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800" b="1" dirty="0">
                <a:solidFill>
                  <a:srgbClr val="10291C"/>
                </a:solidFill>
                <a:latin typeface="Fraunces" pitchFamily="18" charset="0"/>
                <a:ea typeface="Fraunces" pitchFamily="18" charset="-122"/>
                <a:cs typeface="Fraunces" pitchFamily="18" charset="-120"/>
              </a:rPr>
              <a:t>RecyTrack</a:t>
            </a:r>
            <a:endParaRPr lang="en-US" sz="2800" dirty="0"/>
          </a:p>
        </p:txBody>
      </p:sp>
      <p:sp>
        <p:nvSpPr>
          <p:cNvPr id="13" name="Text 10"/>
          <p:cNvSpPr/>
          <p:nvPr/>
        </p:nvSpPr>
        <p:spPr>
          <a:xfrm>
            <a:off x="8580154" y="3883658"/>
            <a:ext cx="214360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75A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Trazabilidad del reciclaje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8572422" y="5186908"/>
            <a:ext cx="2159065" cy="528155"/>
          </a:xfrm>
          <a:prstGeom prst="roundRect">
            <a:avLst>
              <a:gd name="adj" fmla="val 26451"/>
            </a:avLst>
          </a:prstGeom>
          <a:solidFill>
            <a:srgbClr val="1B7F45"/>
          </a:solidFill>
          <a:ln/>
        </p:spPr>
      </p:sp>
      <p:pic>
        <p:nvPicPr>
          <p:cNvPr id="15" name="Image 1" descr="Escanear QR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8951891" y="5349367"/>
            <a:ext cx="203175" cy="203175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9243901" y="5326546"/>
            <a:ext cx="1329741" cy="274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4F8F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Escanear QR</a:t>
            </a:r>
            <a:endParaRPr lang="en-US" sz="1400" dirty="0"/>
          </a:p>
        </p:txBody>
      </p:sp>
      <p:sp>
        <p:nvSpPr>
          <p:cNvPr id="17" name="Shape 13"/>
          <p:cNvSpPr/>
          <p:nvPr/>
        </p:nvSpPr>
        <p:spPr>
          <a:xfrm>
            <a:off x="9207454" y="5816650"/>
            <a:ext cx="888929" cy="38041"/>
          </a:xfrm>
          <a:prstGeom prst="roundRect">
            <a:avLst>
              <a:gd name="adj" fmla="val 50000"/>
            </a:avLst>
          </a:prstGeom>
          <a:solidFill>
            <a:srgbClr val="C9D3C6"/>
          </a:solidFill>
          <a:ln/>
        </p:spPr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F17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937000"/>
            <a:ext cx="4571953" cy="4571953"/>
          </a:xfrm>
          <a:prstGeom prst="roundRect">
            <a:avLst>
              <a:gd name="adj" fmla="val 35556"/>
            </a:avLst>
          </a:prstGeom>
          <a:solidFill>
            <a:srgbClr val="131E17"/>
          </a:solidFill>
          <a:ln/>
        </p:spPr>
      </p:sp>
      <p:sp>
        <p:nvSpPr>
          <p:cNvPr id="3" name="Text 1"/>
          <p:cNvSpPr/>
          <p:nvPr>
            <p:ph type="title"/>
          </p:nvPr>
        </p:nvSpPr>
        <p:spPr>
          <a:xfrm>
            <a:off x="812774" y="2111313"/>
            <a:ext cx="4185861" cy="18176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7056"/>
              </a:lnSpc>
              <a:buNone/>
            </a:pPr>
            <a:r>
              <a:rPr lang="en-US" sz="7200" b="1" i="0" spc="-200" kern="0" dirty="0">
                <a:solidFill>
                  <a:srgbClr val="F3EEE3"/>
                </a:solidFill>
                <a:latin typeface="Fraunces" pitchFamily="18" charset="0"/>
                <a:ea typeface="Fraunces" pitchFamily="18" charset="-122"/>
                <a:cs typeface="Fraunces" pitchFamily="18" charset="-120"/>
              </a:rPr>
              <a:t>Próximos</a:t>
            </a:r>
            <a:endParaRPr lang="en-US" sz="7200" dirty="0"/>
          </a:p>
          <a:p>
            <a:pPr algn="l" indent="0" marL="0">
              <a:lnSpc>
                <a:spcPts val="7056"/>
              </a:lnSpc>
              <a:buNone/>
            </a:pPr>
            <a:r>
              <a:rPr lang="en-US" sz="7200" b="1" i="1" spc="-200" kern="0" dirty="0">
                <a:solidFill>
                  <a:srgbClr val="9DCB6A"/>
                </a:solidFill>
                <a:latin typeface="Fraunces" pitchFamily="18" charset="0"/>
                <a:ea typeface="Fraunces" pitchFamily="18" charset="-122"/>
                <a:cs typeface="Fraunces" pitchFamily="18" charset="-120"/>
              </a:rPr>
              <a:t>pasos.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812774" y="4157489"/>
            <a:ext cx="4185861" cy="6144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20"/>
              </a:lnSpc>
              <a:buNone/>
            </a:pPr>
            <a:r>
              <a:rPr lang="en-US" sz="1600" dirty="0">
                <a:solidFill>
                  <a:srgbClr val="BFC7B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Muchas gracias. </a:t>
            </a:r>
            <a:r>
              <a:rPr lang="en-US" sz="1600" b="1" dirty="0">
                <a:solidFill>
                  <a:srgbClr val="F3EEE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Quedamos atentos a sus preguntas.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9491" y="1918271"/>
            <a:ext cx="5886534" cy="904389"/>
          </a:xfrm>
          <a:prstGeom prst="roundRect">
            <a:avLst>
              <a:gd name="adj" fmla="val 16500"/>
            </a:avLst>
          </a:prstGeom>
          <a:solidFill>
            <a:srgbClr val="16241B"/>
          </a:solidFill>
          <a:ln w="6350">
            <a:solidFill>
              <a:srgbClr val="24362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719489" y="2141897"/>
            <a:ext cx="457145" cy="457145"/>
          </a:xfrm>
          <a:custGeom>
            <a:avLst/>
            <a:gdLst/>
            <a:ahLst/>
            <a:cxnLst/>
            <a:rect l="l" t="t" r="r" b="b"/>
            <a:pathLst>
              <a:path w="457145" h="457145">
                <a:moveTo>
                  <a:pt x="228572" y="0"/>
                </a:moveTo>
                <a:lnTo>
                  <a:pt x="228572" y="0"/>
                </a:lnTo>
                <a:arcTo hR="228572" wR="228572" stAng="16200000" swAng="5400000"/>
                <a:lnTo>
                  <a:pt x="457145" y="228572"/>
                </a:lnTo>
                <a:arcTo hR="228572" wR="228572" stAng="0" swAng="5400000"/>
                <a:lnTo>
                  <a:pt x="228572" y="457145"/>
                </a:lnTo>
                <a:arcTo hR="228572" wR="228572" stAng="5400000" swAng="5400000"/>
                <a:lnTo>
                  <a:pt x="0" y="228572"/>
                </a:lnTo>
                <a:arcTo hR="228572" wR="228572" stAng="10800000" swAng="5400000"/>
                <a:close/>
              </a:path>
            </a:pathLst>
          </a:custGeom>
          <a:solidFill>
            <a:srgbClr val="9DCB6A"/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3600"/>
              </a:lnSpc>
              <a:buNone/>
            </a:pPr>
            <a:r>
              <a:rPr lang="en-US" sz="1600" b="1" dirty="0">
                <a:solidFill>
                  <a:srgbClr val="0F1712"/>
                </a:solidFill>
                <a:latin typeface="Fraunces" pitchFamily="18" charset="0"/>
                <a:ea typeface="Fraunces" pitchFamily="18" charset="-122"/>
                <a:cs typeface="Fraunces" pitchFamily="18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354376" y="2122909"/>
            <a:ext cx="4935399" cy="269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F3EEE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Cerrar los Sprints 3 y 4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354376" y="2404703"/>
            <a:ext cx="493539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FC7B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Funcionalidad completa y plataforma lista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9491" y="2981387"/>
            <a:ext cx="5886534" cy="904389"/>
          </a:xfrm>
          <a:prstGeom prst="roundRect">
            <a:avLst>
              <a:gd name="adj" fmla="val 16500"/>
            </a:avLst>
          </a:prstGeom>
          <a:solidFill>
            <a:srgbClr val="16241B"/>
          </a:solidFill>
          <a:ln w="6350">
            <a:solidFill>
              <a:srgbClr val="24362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719489" y="3205014"/>
            <a:ext cx="457145" cy="457145"/>
          </a:xfrm>
          <a:custGeom>
            <a:avLst/>
            <a:gdLst/>
            <a:ahLst/>
            <a:cxnLst/>
            <a:rect l="l" t="t" r="r" b="b"/>
            <a:pathLst>
              <a:path w="457145" h="457145">
                <a:moveTo>
                  <a:pt x="228572" y="0"/>
                </a:moveTo>
                <a:lnTo>
                  <a:pt x="228572" y="0"/>
                </a:lnTo>
                <a:arcTo hR="228572" wR="228572" stAng="16200000" swAng="5400000"/>
                <a:lnTo>
                  <a:pt x="457145" y="228572"/>
                </a:lnTo>
                <a:arcTo hR="228572" wR="228572" stAng="0" swAng="5400000"/>
                <a:lnTo>
                  <a:pt x="228572" y="457145"/>
                </a:lnTo>
                <a:arcTo hR="228572" wR="228572" stAng="5400000" swAng="5400000"/>
                <a:lnTo>
                  <a:pt x="0" y="228572"/>
                </a:lnTo>
                <a:arcTo hR="228572" wR="228572" stAng="10800000" swAng="5400000"/>
                <a:close/>
              </a:path>
            </a:pathLst>
          </a:custGeom>
          <a:solidFill>
            <a:srgbClr val="9DCB6A"/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3600"/>
              </a:lnSpc>
              <a:buNone/>
            </a:pPr>
            <a:r>
              <a:rPr lang="en-US" sz="1600" b="1" dirty="0">
                <a:solidFill>
                  <a:srgbClr val="0F1712"/>
                </a:solidFill>
                <a:latin typeface="Fraunces" pitchFamily="18" charset="0"/>
                <a:ea typeface="Fraunces" pitchFamily="18" charset="-122"/>
                <a:cs typeface="Fraunces" pitchFamily="18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354376" y="3186026"/>
            <a:ext cx="4935399" cy="269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F3EEE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Formalizar el piloto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354376" y="3467819"/>
            <a:ext cx="493539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FC7B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Aprobación de la gerencia y fecha de inicio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316" y="4041341"/>
            <a:ext cx="5892884" cy="901464"/>
          </a:xfrm>
          <a:prstGeom prst="roundRect">
            <a:avLst>
              <a:gd name="adj" fmla="val 16906"/>
            </a:avLst>
          </a:prstGeom>
          <a:solidFill>
            <a:srgbClr val="F3EEE3"/>
          </a:solidFill>
          <a:ln/>
        </p:spPr>
      </p:sp>
      <p:sp>
        <p:nvSpPr>
          <p:cNvPr id="14" name="Text 12"/>
          <p:cNvSpPr/>
          <p:nvPr/>
        </p:nvSpPr>
        <p:spPr>
          <a:xfrm>
            <a:off x="5714852" y="4263504"/>
            <a:ext cx="457145" cy="457145"/>
          </a:xfrm>
          <a:custGeom>
            <a:avLst/>
            <a:gdLst/>
            <a:ahLst/>
            <a:cxnLst/>
            <a:rect l="l" t="t" r="r" b="b"/>
            <a:pathLst>
              <a:path w="457145" h="457145">
                <a:moveTo>
                  <a:pt x="228572" y="0"/>
                </a:moveTo>
                <a:lnTo>
                  <a:pt x="228572" y="0"/>
                </a:lnTo>
                <a:arcTo hR="228572" wR="228572" stAng="16200000" swAng="5400000"/>
                <a:lnTo>
                  <a:pt x="457145" y="228572"/>
                </a:lnTo>
                <a:arcTo hR="228572" wR="228572" stAng="0" swAng="5400000"/>
                <a:lnTo>
                  <a:pt x="228572" y="457145"/>
                </a:lnTo>
                <a:arcTo hR="228572" wR="228572" stAng="5400000" swAng="5400000"/>
                <a:lnTo>
                  <a:pt x="0" y="228572"/>
                </a:lnTo>
                <a:arcTo hR="228572" wR="228572" stAng="10800000" swAng="5400000"/>
                <a:close/>
              </a:path>
            </a:pathLst>
          </a:custGeom>
          <a:solidFill>
            <a:srgbClr val="D9915C"/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3600"/>
              </a:lnSpc>
              <a:buNone/>
            </a:pPr>
            <a:r>
              <a:rPr lang="en-US" sz="1600" b="1" dirty="0">
                <a:solidFill>
                  <a:srgbClr val="0F1712"/>
                </a:solidFill>
                <a:latin typeface="Fraunces" pitchFamily="18" charset="0"/>
                <a:ea typeface="Fraunces" pitchFamily="18" charset="-122"/>
                <a:cs typeface="Fraunces" pitchFamily="18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349738" y="4244516"/>
            <a:ext cx="4944952" cy="269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6241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Pilotear y medir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349738" y="4526310"/>
            <a:ext cx="494495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A4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 semanas, 6 KPIs y la tasa de éxito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ecyTrack · Fase 2">
  <a:themeElements>
    <a:clrScheme name="RecyTrack · Fase 2">
      <a:dk1>
        <a:srgbClr val="0F1712"/>
      </a:dk1>
      <a:lt1>
        <a:srgbClr val="F3EEE3"/>
      </a:lt1>
      <a:dk2>
        <a:srgbClr val="262D27"/>
      </a:dk2>
      <a:lt2>
        <a:srgbClr val="BAB8AF"/>
      </a:lt2>
      <a:accent1>
        <a:srgbClr val="9DCB6A"/>
      </a:accent1>
      <a:accent2>
        <a:srgbClr val="D9915C"/>
      </a:accent2>
      <a:accent3>
        <a:srgbClr val="1B7F45"/>
      </a:accent3>
      <a:accent4>
        <a:srgbClr val="2E5A40"/>
      </a:accent4>
      <a:accent5>
        <a:srgbClr val="8A4A22"/>
      </a:accent5>
      <a:accent6>
        <a:srgbClr val="A6E27A"/>
      </a:accent6>
      <a:hlink>
        <a:srgbClr val="0563C1"/>
      </a:hlink>
      <a:folHlink>
        <a:srgbClr val="954F72"/>
      </a:folHlink>
    </a:clrScheme>
    <a:fontScheme name="RecyTrack · Fase 2">
      <a:majorFont>
        <a:latin typeface="Fraunce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RecyTrack · Fase 2</dc:title>
  <dc:subject/>
  <dc:creator/>
  <cp:lastModifiedBy/>
  <cp:revision>1</cp:revision>
  <dcterms:created xsi:type="dcterms:W3CDTF">2026-10-20T00:43:13Z</dcterms:created>
  <dcterms:modified xsi:type="dcterms:W3CDTF">2026-10-20T00:43:13Z</dcterms:modified>
</cp:coreProperties>
</file>